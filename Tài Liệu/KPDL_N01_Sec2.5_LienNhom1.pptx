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6"/>
  </p:notesMasterIdLst>
  <p:handoutMasterIdLst>
    <p:handoutMasterId r:id="rId37"/>
  </p:handoutMasterIdLst>
  <p:sldIdLst>
    <p:sldId id="256" r:id="rId5"/>
    <p:sldId id="270" r:id="rId6"/>
    <p:sldId id="283" r:id="rId7"/>
    <p:sldId id="300" r:id="rId8"/>
    <p:sldId id="284" r:id="rId9"/>
    <p:sldId id="301" r:id="rId10"/>
    <p:sldId id="302" r:id="rId11"/>
    <p:sldId id="303" r:id="rId12"/>
    <p:sldId id="304" r:id="rId13"/>
    <p:sldId id="305" r:id="rId14"/>
    <p:sldId id="285" r:id="rId15"/>
    <p:sldId id="307" r:id="rId16"/>
    <p:sldId id="308" r:id="rId17"/>
    <p:sldId id="309" r:id="rId18"/>
    <p:sldId id="310" r:id="rId19"/>
    <p:sldId id="311" r:id="rId20"/>
    <p:sldId id="313" r:id="rId21"/>
    <p:sldId id="312" r:id="rId22"/>
    <p:sldId id="314" r:id="rId23"/>
    <p:sldId id="315" r:id="rId24"/>
    <p:sldId id="316" r:id="rId25"/>
    <p:sldId id="318" r:id="rId26"/>
    <p:sldId id="319" r:id="rId27"/>
    <p:sldId id="320" r:id="rId28"/>
    <p:sldId id="321" r:id="rId29"/>
    <p:sldId id="258" r:id="rId30"/>
    <p:sldId id="322" r:id="rId31"/>
    <p:sldId id="324" r:id="rId32"/>
    <p:sldId id="325" r:id="rId33"/>
    <p:sldId id="326" r:id="rId34"/>
    <p:sldId id="265" r:id="rId35"/>
  </p:sldIdLst>
  <p:sldSz cx="18288000" cy="10287000"/>
  <p:notesSz cx="6858000" cy="9144000"/>
  <p:embeddedFontLst>
    <p:embeddedFont>
      <p:font typeface="Bahnschrift SemiBold SemiCondensed" panose="020B0502040204020203"/>
      <p:bold r:id="rId38"/>
    </p:embeddedFont>
    <p:embeddedFont>
      <p:font typeface="Barlow Condensed Heavy" panose="020B0604020202020204" charset="0"/>
      <p:bold r:id="rId39"/>
    </p:embeddedFont>
    <p:embeddedFont>
      <p:font typeface="Segoe UI" panose="020B0502040204020203" pitchFamily="34" charset="0"/>
      <p:regular r:id="rId40"/>
      <p:bold r:id="rId41"/>
      <p:italic r:id="rId42"/>
      <p:bold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325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20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11/9/2025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A3C363-AAFA-48B4-8AD2-EC9A3E954A44}"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76063B-6723-4843-9FB9-7D78C11AEBA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D676063B-6723-4843-9FB9-7D78C11AEBA6}"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ltLang="en-US"/>
              <a:t>- Các side có công thức thì nên để kích thước lớn, dễ nhìn. Có thể để vào khung hoặc gán 1 cái nền nhẹ để đánh bật sự chú ý của người xem.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svg"/><Relationship Id="rId12"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image" Target="../media/image2.sv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14.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10.png"/><Relationship Id="rId5" Type="http://schemas.openxmlformats.org/officeDocument/2006/relationships/tags" Target="../tags/tag6.xml"/><Relationship Id="rId10" Type="http://schemas.openxmlformats.org/officeDocument/2006/relationships/image" Target="../media/image13.png"/><Relationship Id="rId4" Type="http://schemas.openxmlformats.org/officeDocument/2006/relationships/tags" Target="../tags/tag5.xml"/><Relationship Id="rId9"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tags" Target="../tags/tag22.xml"/><Relationship Id="rId2" Type="http://schemas.openxmlformats.org/officeDocument/2006/relationships/tags" Target="../tags/tag12.xml"/><Relationship Id="rId16" Type="http://schemas.openxmlformats.org/officeDocument/2006/relationships/image" Target="../media/image26.svg"/><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image" Target="../media/image10.png"/><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sv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11572"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1676400" y="3009900"/>
            <a:ext cx="2594369" cy="4588246"/>
            <a:chOff x="0" y="0"/>
            <a:chExt cx="683291" cy="1208427"/>
          </a:xfrm>
        </p:grpSpPr>
        <p:sp>
          <p:nvSpPr>
            <p:cNvPr id="6" name="Freeform 6"/>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7" name="TextBox 7"/>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11787328" y="2915205"/>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1238462" y="4084883"/>
            <a:ext cx="12553738" cy="1615827"/>
          </a:xfrm>
          <a:prstGeom prst="rect">
            <a:avLst/>
          </a:prstGeom>
        </p:spPr>
        <p:txBody>
          <a:bodyPr wrap="square" lIns="0" tIns="0" rIns="0" bIns="0" rtlCol="0" anchor="t">
            <a:spAutoFit/>
          </a:bodyPr>
          <a:lstStyle/>
          <a:p>
            <a:pPr algn="ctr"/>
            <a:r>
              <a:rPr lang="en-US" sz="10500">
                <a:solidFill>
                  <a:srgbClr val="0E2F5F"/>
                </a:solidFill>
                <a:latin typeface="Bahnschrift SemiBold SemiCondensed" panose="020B0502040204020203" pitchFamily="34" charset="0"/>
                <a:ea typeface="Barlow Condensed Heavy" panose="00000A06000000000000"/>
                <a:cs typeface="Barlow Condensed Heavy" panose="00000A06000000000000"/>
                <a:sym typeface="Barlow Condensed Heavy" panose="00000A06000000000000"/>
              </a:rPr>
              <a:t>DATA TRANSFORMATION </a:t>
            </a:r>
          </a:p>
        </p:txBody>
      </p:sp>
      <p:sp>
        <p:nvSpPr>
          <p:cNvPr id="16" name="Freeform 16"/>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Freeform 19"/>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3" name="Group 2"/>
          <p:cNvGrpSpPr/>
          <p:nvPr/>
        </p:nvGrpSpPr>
        <p:grpSpPr>
          <a:xfrm>
            <a:off x="13144500" y="1108020"/>
            <a:ext cx="4197491" cy="863313"/>
            <a:chOff x="21159" y="1984"/>
            <a:chExt cx="6142" cy="1107"/>
          </a:xfrm>
        </p:grpSpPr>
        <p:grpSp>
          <p:nvGrpSpPr>
            <p:cNvPr id="8" name="Group 8"/>
            <p:cNvGrpSpPr/>
            <p:nvPr/>
          </p:nvGrpSpPr>
          <p:grpSpPr>
            <a:xfrm>
              <a:off x="21159" y="1984"/>
              <a:ext cx="5968" cy="1048"/>
              <a:chOff x="0" y="0"/>
              <a:chExt cx="998164" cy="175329"/>
            </a:xfrm>
          </p:grpSpPr>
          <p:sp>
            <p:nvSpPr>
              <p:cNvPr id="9" name="Freeform 9"/>
              <p:cNvSpPr/>
              <p:nvPr/>
            </p:nvSpPr>
            <p:spPr>
              <a:xfrm>
                <a:off x="0" y="0"/>
                <a:ext cx="998164" cy="175329"/>
              </a:xfrm>
              <a:custGeom>
                <a:avLst/>
                <a:gdLst/>
                <a:ahLst/>
                <a:cxnLst/>
                <a:rect l="l" t="t" r="r" b="b"/>
                <a:pathLst>
                  <a:path w="998164" h="175329">
                    <a:moveTo>
                      <a:pt x="87664" y="0"/>
                    </a:moveTo>
                    <a:lnTo>
                      <a:pt x="910500" y="0"/>
                    </a:lnTo>
                    <a:cubicBezTo>
                      <a:pt x="958915" y="0"/>
                      <a:pt x="998164" y="39249"/>
                      <a:pt x="998164" y="87664"/>
                    </a:cubicBezTo>
                    <a:lnTo>
                      <a:pt x="998164" y="87664"/>
                    </a:lnTo>
                    <a:cubicBezTo>
                      <a:pt x="998164" y="110914"/>
                      <a:pt x="988928" y="133212"/>
                      <a:pt x="972488" y="149652"/>
                    </a:cubicBezTo>
                    <a:cubicBezTo>
                      <a:pt x="956048" y="166093"/>
                      <a:pt x="933750" y="175329"/>
                      <a:pt x="910500"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3A577B"/>
              </a:solidFill>
            </p:spPr>
          </p:sp>
          <p:sp>
            <p:nvSpPr>
              <p:cNvPr id="10" name="TextBox 10"/>
              <p:cNvSpPr txBox="1"/>
              <p:nvPr/>
            </p:nvSpPr>
            <p:spPr>
              <a:xfrm>
                <a:off x="0" y="-47625"/>
                <a:ext cx="998164" cy="222954"/>
              </a:xfrm>
              <a:prstGeom prst="rect">
                <a:avLst/>
              </a:prstGeom>
            </p:spPr>
            <p:txBody>
              <a:bodyPr lIns="50800" tIns="50800" rIns="50800" bIns="50800" rtlCol="0" anchor="ctr"/>
              <a:lstStyle/>
              <a:p>
                <a:pPr algn="ctr">
                  <a:lnSpc>
                    <a:spcPts val="2800"/>
                  </a:lnSpc>
                </a:pPr>
                <a:endParaRPr/>
              </a:p>
            </p:txBody>
          </p:sp>
        </p:grpSp>
        <p:sp>
          <p:nvSpPr>
            <p:cNvPr id="20" name="TextBox 17"/>
            <p:cNvSpPr txBox="1"/>
            <p:nvPr/>
          </p:nvSpPr>
          <p:spPr>
            <a:xfrm>
              <a:off x="21781" y="2120"/>
              <a:ext cx="5520" cy="971"/>
            </a:xfrm>
            <a:prstGeom prst="rect">
              <a:avLst/>
            </a:prstGeom>
          </p:spPr>
          <p:txBody>
            <a:bodyPr wrap="square" lIns="0" tIns="0" rIns="0" bIns="0" rtlCol="0" anchor="t">
              <a:spAutoFit/>
            </a:bodyPr>
            <a:lstStyle/>
            <a:p>
              <a:pPr algn="l">
                <a:lnSpc>
                  <a:spcPts val="5240"/>
                </a:lnSpc>
              </a:pPr>
              <a:r>
                <a:rPr lang="en-US" sz="4000" b="1">
                  <a:solidFill>
                    <a:schemeClr val="bg1"/>
                  </a:solidFill>
                  <a:latin typeface="Segoe UI" panose="020B0502040204020203" pitchFamily="34" charset="0"/>
                  <a:ea typeface="MS UI Gothic" panose="020B0600070205080204" charset="-128"/>
                  <a:cs typeface="Segoe UI" panose="020B0502040204020203" pitchFamily="34" charset="0"/>
                  <a:sym typeface="MS UI Gothic" panose="020B0600070205080204" charset="-128"/>
                </a:rPr>
                <a:t>LIÊN NHÓM 1</a:t>
              </a:r>
            </a:p>
          </p:txBody>
        </p:sp>
      </p:grpSp>
      <p:sp>
        <p:nvSpPr>
          <p:cNvPr id="4" name="Text Box 133"/>
          <p:cNvSpPr txBox="1"/>
          <p:nvPr>
            <p:custDataLst>
              <p:tags r:id="rId1"/>
            </p:custDataLst>
          </p:nvPr>
        </p:nvSpPr>
        <p:spPr>
          <a:xfrm>
            <a:off x="4038600" y="6615180"/>
            <a:ext cx="5943600" cy="756746"/>
          </a:xfrm>
          <a:prstGeom prst="rect">
            <a:avLst/>
          </a:prstGeom>
          <a:noFill/>
        </p:spPr>
        <p:txBody>
          <a:bodyPr wrap="square" rtlCol="0" anchor="t">
            <a:spAutoFit/>
          </a:bodyPr>
          <a:lstStyle/>
          <a:p>
            <a:pPr>
              <a:lnSpc>
                <a:spcPts val="5715"/>
              </a:lnSpc>
            </a:pPr>
            <a:r>
              <a:rPr lang="vi-VN" altLang="en-US" sz="40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(CHUYỂN ĐỔI DỮ LIỆU)</a:t>
            </a:r>
          </a:p>
        </p:txBody>
      </p:sp>
      <p:pic>
        <p:nvPicPr>
          <p:cNvPr id="3074" name="Picture 2" descr="Data transformation - Free electronics icons"/>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187358" y="549402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24"/>
          <p:cNvSpPr txBox="1"/>
          <p:nvPr/>
        </p:nvSpPr>
        <p:spPr>
          <a:xfrm>
            <a:off x="1247140" y="4038642"/>
            <a:ext cx="9671242" cy="4762458"/>
          </a:xfrm>
          <a:prstGeom prst="rect">
            <a:avLst/>
          </a:prstGeom>
        </p:spPr>
        <p:txBody>
          <a:bodyPr wrap="square" lIns="0" tIns="0" rIns="0" bIns="0" rtlCol="0" anchor="t">
            <a:spAutoFit/>
          </a:bodyPr>
          <a:lstStyle/>
          <a:p>
            <a:pPr algn="just">
              <a:lnSpc>
                <a:spcPct val="200000"/>
              </a:lnSpc>
            </a:pP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221230923 - Nguyễn Nhật Minh</a:t>
            </a:r>
            <a:endPar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endParaRPr>
          </a:p>
          <a:p>
            <a:pPr algn="just">
              <a:lnSpc>
                <a:spcPct val="200000"/>
              </a:lnSpc>
            </a:pP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221230816</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 Nguyễn Nguyên Giáp</a:t>
            </a:r>
          </a:p>
          <a:p>
            <a:pPr algn="just">
              <a:lnSpc>
                <a:spcPct val="200000"/>
              </a:lnSpc>
            </a:pP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221230853</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 Vương Đức Hùng</a:t>
            </a:r>
            <a:endPar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endParaRPr>
          </a:p>
          <a:p>
            <a:pPr algn="just">
              <a:lnSpc>
                <a:spcPct val="200000"/>
              </a:lnSpc>
            </a:pP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221230916</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 Lê Đức Mạnh</a:t>
            </a:r>
            <a:endPar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endParaRPr>
          </a:p>
          <a:p>
            <a:pPr algn="just">
              <a:lnSpc>
                <a:spcPct val="200000"/>
              </a:lnSpc>
            </a:pP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221230921</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 </a:t>
            </a: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Hoàng Ngọc Minh </a:t>
            </a:r>
          </a:p>
        </p:txBody>
      </p:sp>
      <p:grpSp>
        <p:nvGrpSpPr>
          <p:cNvPr id="3" name="Group 2"/>
          <p:cNvGrpSpPr/>
          <p:nvPr/>
        </p:nvGrpSpPr>
        <p:grpSpPr>
          <a:xfrm>
            <a:off x="914400" y="1562100"/>
            <a:ext cx="9167495" cy="1139190"/>
            <a:chOff x="1440" y="2460"/>
            <a:chExt cx="14437" cy="1794"/>
          </a:xfrm>
        </p:grpSpPr>
        <p:grpSp>
          <p:nvGrpSpPr>
            <p:cNvPr id="37" name="Group 8"/>
            <p:cNvGrpSpPr/>
            <p:nvPr/>
          </p:nvGrpSpPr>
          <p:grpSpPr>
            <a:xfrm>
              <a:off x="3117" y="2460"/>
              <a:ext cx="12761" cy="1794"/>
              <a:chOff x="0" y="-47625"/>
              <a:chExt cx="1295215" cy="235986"/>
            </a:xfrm>
          </p:grpSpPr>
          <p:sp>
            <p:nvSpPr>
              <p:cNvPr id="38" name="Freeform 9"/>
              <p:cNvSpPr/>
              <p:nvPr/>
            </p:nvSpPr>
            <p:spPr>
              <a:xfrm>
                <a:off x="0" y="13032"/>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39"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46" name="TextBox 27"/>
            <p:cNvSpPr txBox="1"/>
            <p:nvPr/>
          </p:nvSpPr>
          <p:spPr>
            <a:xfrm>
              <a:off x="3435" y="3378"/>
              <a:ext cx="12119" cy="626"/>
            </a:xfrm>
            <a:prstGeom prst="rect">
              <a:avLst/>
            </a:prstGeom>
          </p:spPr>
          <p:txBody>
            <a:bodyPr wrap="square" lIns="0" tIns="0" rIns="0" bIns="0" rtlCol="0" anchor="t">
              <a:spAutoFit/>
            </a:bodyPr>
            <a:lstStyle/>
            <a:p>
              <a:pPr algn="ctr">
                <a:lnSpc>
                  <a:spcPts val="3080"/>
                </a:lnSpc>
              </a:pPr>
              <a:r>
                <a:rPr lang="en-US" sz="36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DANH SÁCH THÀNH VIÊN</a:t>
              </a:r>
            </a:p>
          </p:txBody>
        </p:sp>
        <p:sp>
          <p:nvSpPr>
            <p:cNvPr id="2" name="Freeform 12"/>
            <p:cNvSpPr/>
            <p:nvPr/>
          </p:nvSpPr>
          <p:spPr>
            <a:xfrm>
              <a:off x="1440" y="3116"/>
              <a:ext cx="1048" cy="1048"/>
            </a:xfrm>
            <a:custGeom>
              <a:avLst/>
              <a:gdLst/>
              <a:ahLst/>
              <a:cxnLst/>
              <a:rect l="l" t="t" r="r" b="b"/>
              <a:pathLst>
                <a:path w="665701" h="665701">
                  <a:moveTo>
                    <a:pt x="0" y="0"/>
                  </a:moveTo>
                  <a:lnTo>
                    <a:pt x="665701" y="0"/>
                  </a:lnTo>
                  <a:lnTo>
                    <a:pt x="665701" y="665701"/>
                  </a:lnTo>
                  <a:lnTo>
                    <a:pt x="0" y="6657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63406" y="-1562100"/>
            <a:ext cx="6924594" cy="6430041"/>
          </a:xfrm>
          <a:prstGeom prst="rect">
            <a:avLst/>
          </a:prstGeom>
        </p:spPr>
      </p:pic>
      <p:sp>
        <p:nvSpPr>
          <p:cNvPr id="4" name="TextBox 24"/>
          <p:cNvSpPr txBox="1"/>
          <p:nvPr/>
        </p:nvSpPr>
        <p:spPr>
          <a:xfrm>
            <a:off x="10287000" y="4038642"/>
            <a:ext cx="9671242" cy="4762458"/>
          </a:xfrm>
          <a:prstGeom prst="rect">
            <a:avLst/>
          </a:prstGeom>
        </p:spPr>
        <p:txBody>
          <a:bodyPr wrap="square" lIns="0" tIns="0" rIns="0" bIns="0" rtlCol="0" anchor="t">
            <a:spAutoFit/>
          </a:bodyPr>
          <a:lstStyle/>
          <a:p>
            <a:pPr algn="just">
              <a:lnSpc>
                <a:spcPct val="200000"/>
              </a:lnSpc>
            </a:pP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221231013 - Nguyễn Thị </a:t>
            </a:r>
            <a:r>
              <a:rPr lang="en-US" sz="3200" b="1" err="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Huyền</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Trang</a:t>
            </a:r>
          </a:p>
          <a:p>
            <a:pPr algn="just">
              <a:lnSpc>
                <a:spcPct val="200000"/>
              </a:lnSpc>
            </a:pP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221220938</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 </a:t>
            </a: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Nguyễn Quốc Nam</a:t>
            </a:r>
            <a:endPar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endParaRPr>
          </a:p>
          <a:p>
            <a:pPr algn="just">
              <a:lnSpc>
                <a:spcPct val="200000"/>
              </a:lnSpc>
            </a:pP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221230878</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 </a:t>
            </a: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Lê Sĩ Khánh</a:t>
            </a:r>
          </a:p>
          <a:p>
            <a:pPr algn="just">
              <a:lnSpc>
                <a:spcPct val="200000"/>
              </a:lnSpc>
            </a:pP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221230952</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 </a:t>
            </a: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Lò Văn Phát</a:t>
            </a:r>
          </a:p>
          <a:p>
            <a:pPr algn="just">
              <a:lnSpc>
                <a:spcPct val="200000"/>
              </a:lnSpc>
            </a:pP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221231061</a:t>
            </a:r>
            <a:r>
              <a:rPr lang="en-US"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 - </a:t>
            </a:r>
            <a:r>
              <a:rPr lang="vi-VN" sz="3200" b="1">
                <a:solidFill>
                  <a:srgbClr val="0E2F5F"/>
                </a:solidFill>
                <a:latin typeface="Segoe UI" panose="020B0502040204020203" pitchFamily="34" charset="0"/>
                <a:ea typeface="Segoe Print" panose="02000600000000000000" charset="0"/>
                <a:cs typeface="Segoe UI" panose="020B0502040204020203" pitchFamily="34" charset="0"/>
                <a:sym typeface="Segoe Print" panose="02000600000000000000" charset="0"/>
              </a:rPr>
              <a:t>Đỗ Thị Ngọc Yến </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7"/>
          <p:cNvSpPr/>
          <p:nvPr/>
        </p:nvSpPr>
        <p:spPr>
          <a:xfrm>
            <a:off x="-1066800" y="2247900"/>
            <a:ext cx="6849745" cy="5133340"/>
          </a:xfrm>
          <a:custGeom>
            <a:avLst/>
            <a:gdLst/>
            <a:ahLst/>
            <a:cxnLst/>
            <a:rect l="l" t="t" r="r" b="b"/>
            <a:pathLst>
              <a:path w="11083636" h="8229600">
                <a:moveTo>
                  <a:pt x="0" y="0"/>
                </a:moveTo>
                <a:lnTo>
                  <a:pt x="11083637" y="0"/>
                </a:lnTo>
                <a:lnTo>
                  <a:pt x="11083637" y="8229600"/>
                </a:lnTo>
                <a:lnTo>
                  <a:pt x="0" y="8229600"/>
                </a:lnTo>
                <a:lnTo>
                  <a:pt x="0" y="0"/>
                </a:lnTo>
                <a:close/>
              </a:path>
            </a:pathLst>
          </a:custGeom>
          <a:blipFill>
            <a:blip r:embed="rId10"/>
            <a:stretch>
              <a:fillRect/>
            </a:stretch>
          </a:blipFill>
        </p:spPr>
      </p:sp>
      <p:sp>
        <p:nvSpPr>
          <p:cNvPr id="4" name="Arc 3"/>
          <p:cNvSpPr/>
          <p:nvPr/>
        </p:nvSpPr>
        <p:spPr>
          <a:xfrm>
            <a:off x="-2590800" y="-266700"/>
            <a:ext cx="9483090" cy="10835640"/>
          </a:xfrm>
          <a:prstGeom prst="arc">
            <a:avLst>
              <a:gd name="adj1" fmla="val 16200000"/>
              <a:gd name="adj2" fmla="val 5908181"/>
            </a:avLst>
          </a:prstGeom>
          <a:ln w="57150"/>
          <a:effectLst>
            <a:outerShdw blurRad="50800" dist="38100" algn="l" rotWithShape="0">
              <a:schemeClr val="bg1">
                <a:lumMod val="75000"/>
                <a:alpha val="40000"/>
              </a:schemeClr>
            </a:outerShdw>
          </a:effectLst>
        </p:spPr>
        <p:style>
          <a:lnRef idx="2">
            <a:schemeClr val="accent1"/>
          </a:lnRef>
          <a:fillRef idx="0">
            <a:srgbClr val="FFFFFF"/>
          </a:fillRef>
          <a:effectRef idx="0">
            <a:srgbClr val="FFFFFF"/>
          </a:effectRef>
          <a:fontRef idx="minor">
            <a:schemeClr val="tx1"/>
          </a:fontRef>
        </p:style>
        <p:txBody>
          <a:bodyPr rtlCol="0" anchor="ctr"/>
          <a:lstStyle/>
          <a:p>
            <a:pPr algn="ctr"/>
            <a:endParaRPr lang="en-GB" altLang="en-US"/>
          </a:p>
        </p:txBody>
      </p:sp>
      <p:sp>
        <p:nvSpPr>
          <p:cNvPr id="5" name="Oval 4"/>
          <p:cNvSpPr/>
          <p:nvPr>
            <p:custDataLst>
              <p:tags r:id="rId1"/>
            </p:custDataLst>
          </p:nvPr>
        </p:nvSpPr>
        <p:spPr>
          <a:xfrm>
            <a:off x="6071870" y="4305300"/>
            <a:ext cx="1492250" cy="983615"/>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2.5.2</a:t>
            </a:r>
            <a:endParaRPr lang="vi-VN"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9" name="Oval 8"/>
          <p:cNvSpPr/>
          <p:nvPr>
            <p:custDataLst>
              <p:tags r:id="rId2"/>
            </p:custDataLst>
          </p:nvPr>
        </p:nvSpPr>
        <p:spPr>
          <a:xfrm>
            <a:off x="5334000" y="7981315"/>
            <a:ext cx="1492250" cy="972185"/>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2.5.4</a:t>
            </a:r>
            <a:endParaRPr lang="vi-VN"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10" name="Oval 9"/>
          <p:cNvSpPr/>
          <p:nvPr>
            <p:custDataLst>
              <p:tags r:id="rId3"/>
            </p:custDataLst>
          </p:nvPr>
        </p:nvSpPr>
        <p:spPr>
          <a:xfrm>
            <a:off x="5943600" y="6091555"/>
            <a:ext cx="1492250" cy="1109345"/>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2.5.3</a:t>
            </a:r>
            <a:endParaRPr lang="vi-VN"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11" name="Oval 10"/>
          <p:cNvSpPr/>
          <p:nvPr>
            <p:custDataLst>
              <p:tags r:id="rId4"/>
            </p:custDataLst>
          </p:nvPr>
        </p:nvSpPr>
        <p:spPr>
          <a:xfrm>
            <a:off x="5638800" y="2476500"/>
            <a:ext cx="1492250" cy="1109345"/>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2.5.1</a:t>
            </a:r>
            <a:endParaRPr lang="vi-VN"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13" name="Text Box 133"/>
          <p:cNvSpPr txBox="1"/>
          <p:nvPr>
            <p:custDataLst>
              <p:tags r:id="rId5"/>
            </p:custDataLst>
          </p:nvPr>
        </p:nvSpPr>
        <p:spPr>
          <a:xfrm>
            <a:off x="7703820" y="4357041"/>
            <a:ext cx="7536180" cy="721864"/>
          </a:xfrm>
          <a:prstGeom prst="rect">
            <a:avLst/>
          </a:prstGeom>
          <a:noFill/>
        </p:spPr>
        <p:txBody>
          <a:bodyPr wrap="square" rtlCol="0" anchor="t">
            <a:spAutoFit/>
          </a:bodyPr>
          <a:lstStyle/>
          <a:p>
            <a:pPr>
              <a:lnSpc>
                <a:spcPts val="5715"/>
              </a:lnSpc>
            </a:pPr>
            <a:r>
              <a:rPr lang="vi-VN"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DISCRETIZATION (RỜI RẠC HÓA DỮ LIỆU)</a:t>
            </a:r>
          </a:p>
        </p:txBody>
      </p:sp>
      <p:sp>
        <p:nvSpPr>
          <p:cNvPr id="15" name="Text Box 135"/>
          <p:cNvSpPr txBox="1"/>
          <p:nvPr>
            <p:custDataLst>
              <p:tags r:id="rId6"/>
            </p:custDataLst>
          </p:nvPr>
        </p:nvSpPr>
        <p:spPr>
          <a:xfrm>
            <a:off x="7327900" y="2552700"/>
            <a:ext cx="8521700" cy="721864"/>
          </a:xfrm>
          <a:prstGeom prst="rect">
            <a:avLst/>
          </a:prstGeom>
          <a:noFill/>
        </p:spPr>
        <p:txBody>
          <a:bodyPr wrap="square" rtlCol="0" anchor="t">
            <a:spAutoFit/>
          </a:bodyPr>
          <a:lstStyle/>
          <a:p>
            <a:pPr>
              <a:lnSpc>
                <a:spcPts val="5715"/>
              </a:lnSpc>
            </a:pPr>
            <a:r>
              <a:rPr 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NORMALIZATION (CHUẨN HÓA DỮ LIỆU)</a:t>
            </a:r>
            <a:endParaRPr lang="vi-VN"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16" name="Text Box 136"/>
          <p:cNvSpPr txBox="1"/>
          <p:nvPr>
            <p:custDataLst>
              <p:tags r:id="rId7"/>
            </p:custDataLst>
          </p:nvPr>
        </p:nvSpPr>
        <p:spPr>
          <a:xfrm>
            <a:off x="7551420" y="6185841"/>
            <a:ext cx="6850380" cy="721864"/>
          </a:xfrm>
          <a:prstGeom prst="rect">
            <a:avLst/>
          </a:prstGeom>
          <a:noFill/>
        </p:spPr>
        <p:txBody>
          <a:bodyPr wrap="square" rtlCol="0" anchor="t">
            <a:spAutoFit/>
          </a:bodyPr>
          <a:lstStyle/>
          <a:p>
            <a:pPr>
              <a:lnSpc>
                <a:spcPts val="5715"/>
              </a:lnSpc>
            </a:pPr>
            <a:r>
              <a:rPr lang="vi-VN"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r>
              <a:rPr lang="it-IT"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DATA COMPRESSION (NÉN DỮ LIỆU)</a:t>
            </a:r>
            <a:endParaRPr lang="vi-VN"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17" name="Text Box 137"/>
          <p:cNvSpPr txBox="1"/>
          <p:nvPr>
            <p:custDataLst>
              <p:tags r:id="rId8"/>
            </p:custDataLst>
          </p:nvPr>
        </p:nvSpPr>
        <p:spPr>
          <a:xfrm>
            <a:off x="7010400" y="8003036"/>
            <a:ext cx="4869180" cy="721864"/>
          </a:xfrm>
          <a:prstGeom prst="rect">
            <a:avLst/>
          </a:prstGeom>
          <a:noFill/>
        </p:spPr>
        <p:txBody>
          <a:bodyPr wrap="square" rtlCol="0" anchor="t">
            <a:spAutoFit/>
          </a:bodyPr>
          <a:lstStyle/>
          <a:p>
            <a:pPr>
              <a:lnSpc>
                <a:spcPts val="5715"/>
              </a:lnSpc>
            </a:pPr>
            <a:r>
              <a:rPr lang="vi-VN" altLang="en-US" sz="2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SAMPLING (LẤY MẪU)</a:t>
            </a:r>
          </a:p>
        </p:txBody>
      </p:sp>
      <p:sp>
        <p:nvSpPr>
          <p:cNvPr id="23" name="Freeform 11"/>
          <p:cNvSpPr/>
          <p:nvPr/>
        </p:nvSpPr>
        <p:spPr>
          <a:xfrm>
            <a:off x="12344400" y="487680"/>
            <a:ext cx="998220" cy="998220"/>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ltLang="en-US"/>
          </a:p>
        </p:txBody>
      </p:sp>
      <p:grpSp>
        <p:nvGrpSpPr>
          <p:cNvPr id="25" name="Group 24"/>
          <p:cNvGrpSpPr/>
          <p:nvPr/>
        </p:nvGrpSpPr>
        <p:grpSpPr>
          <a:xfrm>
            <a:off x="13639800" y="483235"/>
            <a:ext cx="7402195" cy="998220"/>
            <a:chOff x="20688" y="300"/>
            <a:chExt cx="7771" cy="1048"/>
          </a:xfrm>
        </p:grpSpPr>
        <p:grpSp>
          <p:nvGrpSpPr>
            <p:cNvPr id="20" name="Group 8"/>
            <p:cNvGrpSpPr/>
            <p:nvPr/>
          </p:nvGrpSpPr>
          <p:grpSpPr>
            <a:xfrm>
              <a:off x="20714" y="300"/>
              <a:ext cx="7745" cy="1048"/>
              <a:chOff x="0" y="0"/>
              <a:chExt cx="1295215" cy="175329"/>
            </a:xfrm>
          </p:grpSpPr>
          <p:sp>
            <p:nvSpPr>
              <p:cNvPr id="21"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22"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24" name="TextBox 27"/>
            <p:cNvSpPr txBox="1"/>
            <p:nvPr/>
          </p:nvSpPr>
          <p:spPr>
            <a:xfrm>
              <a:off x="20688" y="726"/>
              <a:ext cx="5493" cy="415"/>
            </a:xfrm>
            <a:prstGeom prst="rect">
              <a:avLst/>
            </a:prstGeom>
          </p:spPr>
          <p:txBody>
            <a:bodyPr wrap="square" lIns="0" tIns="0" rIns="0" bIns="0" rtlCol="0" anchor="t">
              <a:spAutoFit/>
            </a:bodyPr>
            <a:lstStyle/>
            <a:p>
              <a:pPr algn="ctr">
                <a:lnSpc>
                  <a:spcPts val="3080"/>
                </a:lnSpc>
              </a:pPr>
              <a:r>
                <a:rPr lang="vi-VN" altLang="en-US" sz="36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TỔNG QUAN</a:t>
              </a:r>
            </a:p>
          </p:txBody>
        </p:sp>
      </p:gr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676400" y="806450"/>
            <a:ext cx="14592300" cy="678904"/>
          </a:xfrm>
          <a:prstGeom prst="rect">
            <a:avLst/>
          </a:prstGeom>
        </p:spPr>
        <p:txBody>
          <a:bodyPr wrap="square" lIns="0" tIns="0" rIns="0" bIns="0" rtlCol="0" anchor="t">
            <a:spAutoFit/>
          </a:bodyPr>
          <a:lstStyle/>
          <a:p>
            <a:pPr algn="ct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CHUYỂN ĐỔI DỮ LIỆU (DATA TRANSFORMATION)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3" name="TextBox 24"/>
          <p:cNvSpPr txBox="1"/>
          <p:nvPr/>
        </p:nvSpPr>
        <p:spPr>
          <a:xfrm>
            <a:off x="1647669" y="3712512"/>
            <a:ext cx="7889875" cy="1362361"/>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Chuyển đổi dữ liệu là quá trình chuyển đổi hoặc hợp nhất dữ liệu sang dạng thích hợp cho khai phá dữ liệu.</a:t>
            </a:r>
            <a:endPar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nvGrpSpPr>
          <p:cNvPr id="4" name="Group 3"/>
          <p:cNvGrpSpPr/>
          <p:nvPr/>
        </p:nvGrpSpPr>
        <p:grpSpPr>
          <a:xfrm>
            <a:off x="914400" y="2634886"/>
            <a:ext cx="5803265" cy="665480"/>
            <a:chOff x="1592" y="3333"/>
            <a:chExt cx="9139" cy="1048"/>
          </a:xfrm>
        </p:grpSpPr>
        <p:grpSp>
          <p:nvGrpSpPr>
            <p:cNvPr id="5" name="Group 8"/>
            <p:cNvGrpSpPr/>
            <p:nvPr/>
          </p:nvGrpSpPr>
          <p:grpSpPr>
            <a:xfrm>
              <a:off x="2986" y="3333"/>
              <a:ext cx="7745" cy="1048"/>
              <a:chOff x="0" y="0"/>
              <a:chExt cx="1295215" cy="175329"/>
            </a:xfrm>
          </p:grpSpPr>
          <p:sp>
            <p:nvSpPr>
              <p:cNvPr id="8"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txBody>
              <a:bodyPr/>
              <a:lstStyle/>
              <a:p>
                <a:endParaRPr lang="vi-VN"/>
              </a:p>
            </p:txBody>
          </p:sp>
          <p:sp>
            <p:nvSpPr>
              <p:cNvPr id="9"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6"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7" name="TextBox 27"/>
            <p:cNvSpPr txBox="1"/>
            <p:nvPr/>
          </p:nvSpPr>
          <p:spPr>
            <a:xfrm>
              <a:off x="4080" y="3534"/>
              <a:ext cx="5493" cy="570"/>
            </a:xfrm>
            <a:prstGeom prst="rect">
              <a:avLst/>
            </a:prstGeom>
          </p:spPr>
          <p:txBody>
            <a:bodyPr wrap="square" lIns="0" tIns="0" rIns="0" bIns="0" rtlCol="0" anchor="t">
              <a:spAutoFit/>
            </a:bodyPr>
            <a:lstStyle/>
            <a:p>
              <a:pPr algn="ctr">
                <a:lnSpc>
                  <a:spcPts val="3080"/>
                </a:lnSpc>
              </a:pPr>
              <a:r>
                <a:rPr lang="en-US"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KHÁI NIỆM</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16" name="TextBox 24"/>
          <p:cNvSpPr txBox="1"/>
          <p:nvPr/>
        </p:nvSpPr>
        <p:spPr>
          <a:xfrm>
            <a:off x="1647669" y="7438739"/>
            <a:ext cx="7889875" cy="1362361"/>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Làm cho quá trình khai phá hiệu quả hơn</a:t>
            </a:r>
          </a:p>
          <a:p>
            <a:pPr marL="342900" indent="-342900" algn="just">
              <a:lnSpc>
                <a:spcPct val="20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Kết quả thu được dễ hiểu và có ý nghĩa hơn</a:t>
            </a:r>
          </a:p>
        </p:txBody>
      </p:sp>
      <p:grpSp>
        <p:nvGrpSpPr>
          <p:cNvPr id="17" name="Group 16"/>
          <p:cNvGrpSpPr/>
          <p:nvPr/>
        </p:nvGrpSpPr>
        <p:grpSpPr>
          <a:xfrm>
            <a:off x="914400" y="6361113"/>
            <a:ext cx="5803265" cy="665480"/>
            <a:chOff x="1592" y="3333"/>
            <a:chExt cx="9139" cy="1048"/>
          </a:xfrm>
        </p:grpSpPr>
        <p:grpSp>
          <p:nvGrpSpPr>
            <p:cNvPr id="18" name="Group 8"/>
            <p:cNvGrpSpPr/>
            <p:nvPr/>
          </p:nvGrpSpPr>
          <p:grpSpPr>
            <a:xfrm>
              <a:off x="2986" y="3333"/>
              <a:ext cx="7745" cy="1048"/>
              <a:chOff x="0" y="0"/>
              <a:chExt cx="1295215" cy="175329"/>
            </a:xfrm>
          </p:grpSpPr>
          <p:sp>
            <p:nvSpPr>
              <p:cNvPr id="21"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txBody>
              <a:bodyPr/>
              <a:lstStyle/>
              <a:p>
                <a:endParaRPr lang="vi-VN"/>
              </a:p>
            </p:txBody>
          </p:sp>
          <p:sp>
            <p:nvSpPr>
              <p:cNvPr id="22"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19"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20" name="TextBox 27"/>
            <p:cNvSpPr txBox="1"/>
            <p:nvPr/>
          </p:nvSpPr>
          <p:spPr>
            <a:xfrm>
              <a:off x="4080" y="3534"/>
              <a:ext cx="5493" cy="570"/>
            </a:xfrm>
            <a:prstGeom prst="rect">
              <a:avLst/>
            </a:prstGeom>
          </p:spPr>
          <p:txBody>
            <a:bodyPr wrap="square" lIns="0" tIns="0" rIns="0" bIns="0" rtlCol="0" anchor="t">
              <a:spAutoFit/>
            </a:bodyPr>
            <a:lstStyle/>
            <a:p>
              <a:pPr algn="ctr">
                <a:lnSpc>
                  <a:spcPts val="3080"/>
                </a:lnSpc>
              </a:pPr>
              <a:r>
                <a:rPr lang="en-US"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MỤC ĐÍCH</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pic>
        <p:nvPicPr>
          <p:cNvPr id="4098" name="Picture 2" descr="Data transformation - Free electronics ic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77594" y="35433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592300" cy="678904"/>
          </a:xfrm>
          <a:prstGeom prst="rect">
            <a:avLst/>
          </a:prstGeom>
        </p:spPr>
        <p:txBody>
          <a:bodyPr wrap="square" lIns="0" tIns="0" rIns="0" bIns="0" rtlCol="0" anchor="t">
            <a:spAutoFit/>
          </a:bodyPr>
          <a:lstStyle/>
          <a:p>
            <a:pP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2.5.1. CHUẨN HÓA DỮ LIỆU (NORMALIZATION)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3" name="TextBox 24"/>
          <p:cNvSpPr txBox="1"/>
          <p:nvPr/>
        </p:nvSpPr>
        <p:spPr>
          <a:xfrm>
            <a:off x="1825342" y="4199912"/>
            <a:ext cx="9296400" cy="4317016"/>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Đưa các thuộc tính về cùng thang đo để:</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Tránh ảnh hưởng của đơn vị đo lường (m,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inch</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kg</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pound</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Giúp các thuật toán học máy hoạt động tốt hơn</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Ngăn các thuộc tính có giá trị lớn át các thuộc tính nhỏ</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Tăng tốc quá trình học</a:t>
            </a:r>
          </a:p>
          <a:p>
            <a:pPr algn="just">
              <a:lnSpc>
                <a:spcPct val="200000"/>
              </a:lnSpc>
            </a:pPr>
            <a:endPar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nvGrpSpPr>
          <p:cNvPr id="4" name="Group 3"/>
          <p:cNvGrpSpPr/>
          <p:nvPr/>
        </p:nvGrpSpPr>
        <p:grpSpPr>
          <a:xfrm>
            <a:off x="1010920" y="2935605"/>
            <a:ext cx="5803265" cy="665480"/>
            <a:chOff x="1592" y="3333"/>
            <a:chExt cx="9139" cy="1048"/>
          </a:xfrm>
        </p:grpSpPr>
        <p:grpSp>
          <p:nvGrpSpPr>
            <p:cNvPr id="5" name="Group 8"/>
            <p:cNvGrpSpPr/>
            <p:nvPr/>
          </p:nvGrpSpPr>
          <p:grpSpPr>
            <a:xfrm>
              <a:off x="2986" y="3333"/>
              <a:ext cx="7745" cy="1048"/>
              <a:chOff x="0" y="0"/>
              <a:chExt cx="1295215" cy="175329"/>
            </a:xfrm>
          </p:grpSpPr>
          <p:sp>
            <p:nvSpPr>
              <p:cNvPr id="8"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9"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6"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7" name="TextBox 27"/>
            <p:cNvSpPr txBox="1"/>
            <p:nvPr/>
          </p:nvSpPr>
          <p:spPr>
            <a:xfrm>
              <a:off x="4080" y="3534"/>
              <a:ext cx="5493" cy="570"/>
            </a:xfrm>
            <a:prstGeom prst="rect">
              <a:avLst/>
            </a:prstGeom>
          </p:spPr>
          <p:txBody>
            <a:bodyPr wrap="square" lIns="0" tIns="0" rIns="0" bIns="0" rtlCol="0" anchor="t">
              <a:spAutoFit/>
            </a:bodyPr>
            <a:lstStyle/>
            <a:p>
              <a:pPr algn="ctr">
                <a:lnSpc>
                  <a:spcPts val="3080"/>
                </a:lnSpc>
              </a:pPr>
              <a:r>
                <a:rPr lang="en-US"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MỤC TIÊU</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10" name="Freeform 6"/>
          <p:cNvSpPr/>
          <p:nvPr/>
        </p:nvSpPr>
        <p:spPr>
          <a:xfrm>
            <a:off x="11201400" y="4610100"/>
            <a:ext cx="6443345" cy="4947920"/>
          </a:xfrm>
          <a:custGeom>
            <a:avLst/>
            <a:gdLst/>
            <a:ahLst/>
            <a:cxnLst/>
            <a:rect l="l" t="t" r="r" b="b"/>
            <a:pathLst>
              <a:path w="5085404" h="3801340">
                <a:moveTo>
                  <a:pt x="0" y="0"/>
                </a:moveTo>
                <a:lnTo>
                  <a:pt x="5085404" y="0"/>
                </a:lnTo>
                <a:lnTo>
                  <a:pt x="5085404" y="3801339"/>
                </a:lnTo>
                <a:lnTo>
                  <a:pt x="0" y="3801339"/>
                </a:lnTo>
                <a:lnTo>
                  <a:pt x="0" y="0"/>
                </a:lnTo>
                <a:close/>
              </a:path>
            </a:pathLst>
          </a:custGeom>
          <a:blipFill>
            <a:blip r:embed="rId4"/>
            <a:stretch>
              <a:fillRect/>
            </a:stretch>
          </a:blipFill>
        </p:spPr>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592300" cy="678904"/>
          </a:xfrm>
          <a:prstGeom prst="rect">
            <a:avLst/>
          </a:prstGeom>
        </p:spPr>
        <p:txBody>
          <a:bodyPr wrap="square" lIns="0" tIns="0" rIns="0" bIns="0" rtlCol="0" anchor="t">
            <a:spAutoFit/>
          </a:bodyPr>
          <a:lstStyle/>
          <a:p>
            <a:pP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2.5.1. CHUẨN HÓA DỮ LIỆU (NORMALIZATION)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3" name="TextBox 24"/>
          <p:cNvSpPr txBox="1"/>
          <p:nvPr/>
        </p:nvSpPr>
        <p:spPr>
          <a:xfrm>
            <a:off x="1825625" y="4199890"/>
            <a:ext cx="8758555" cy="1362361"/>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Ứng dụng cho các thuật toán phân loại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classification</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liên quan đến mạng nơ-</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ron</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neural</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networks</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p:txBody>
      </p:sp>
      <p:grpSp>
        <p:nvGrpSpPr>
          <p:cNvPr id="4" name="Group 3"/>
          <p:cNvGrpSpPr/>
          <p:nvPr/>
        </p:nvGrpSpPr>
        <p:grpSpPr>
          <a:xfrm>
            <a:off x="1010920" y="2935605"/>
            <a:ext cx="5803265" cy="665480"/>
            <a:chOff x="1592" y="3333"/>
            <a:chExt cx="9139" cy="1048"/>
          </a:xfrm>
        </p:grpSpPr>
        <p:grpSp>
          <p:nvGrpSpPr>
            <p:cNvPr id="5" name="Group 8"/>
            <p:cNvGrpSpPr/>
            <p:nvPr/>
          </p:nvGrpSpPr>
          <p:grpSpPr>
            <a:xfrm>
              <a:off x="2986" y="3333"/>
              <a:ext cx="7745" cy="1048"/>
              <a:chOff x="0" y="0"/>
              <a:chExt cx="1295215" cy="175329"/>
            </a:xfrm>
          </p:grpSpPr>
          <p:sp>
            <p:nvSpPr>
              <p:cNvPr id="8"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9"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6"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7" name="TextBox 27"/>
            <p:cNvSpPr txBox="1"/>
            <p:nvPr/>
          </p:nvSpPr>
          <p:spPr>
            <a:xfrm>
              <a:off x="4080" y="3534"/>
              <a:ext cx="5493" cy="570"/>
            </a:xfrm>
            <a:prstGeom prst="rect">
              <a:avLst/>
            </a:prstGeom>
          </p:spPr>
          <p:txBody>
            <a:bodyPr wrap="square" lIns="0" tIns="0" rIns="0" bIns="0" rtlCol="0" anchor="t">
              <a:spAutoFit/>
            </a:bodyPr>
            <a:lstStyle/>
            <a:p>
              <a:pPr algn="ctr">
                <a:lnSpc>
                  <a:spcPts val="3080"/>
                </a:lnSpc>
              </a:pPr>
              <a:r>
                <a:rPr lang="en-US"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ỨNG DỤNG</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16" name="TextBox 24"/>
          <p:cNvSpPr txBox="1"/>
          <p:nvPr/>
        </p:nvSpPr>
        <p:spPr>
          <a:xfrm>
            <a:off x="1885950" y="6134100"/>
            <a:ext cx="8798560" cy="1477010"/>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Các phép đo khoảng cách như phân loại lân cận gần nhất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neural</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networks</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và phân cụm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clustering</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p:txBody>
      </p:sp>
      <p:sp>
        <p:nvSpPr>
          <p:cNvPr id="11" name="Freeform 7"/>
          <p:cNvSpPr/>
          <p:nvPr/>
        </p:nvSpPr>
        <p:spPr>
          <a:xfrm>
            <a:off x="13639800" y="6286500"/>
            <a:ext cx="3488055" cy="3306445"/>
          </a:xfrm>
          <a:custGeom>
            <a:avLst/>
            <a:gdLst/>
            <a:ahLst/>
            <a:cxnLst/>
            <a:rect l="l" t="t" r="r" b="b"/>
            <a:pathLst>
              <a:path w="2300228" h="2300228">
                <a:moveTo>
                  <a:pt x="0" y="0"/>
                </a:moveTo>
                <a:lnTo>
                  <a:pt x="2300228" y="0"/>
                </a:lnTo>
                <a:lnTo>
                  <a:pt x="2300228" y="2300228"/>
                </a:lnTo>
                <a:lnTo>
                  <a:pt x="0" y="23002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13716000" y="2400300"/>
            <a:ext cx="3326765" cy="3418205"/>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592300" cy="678904"/>
          </a:xfrm>
          <a:prstGeom prst="rect">
            <a:avLst/>
          </a:prstGeom>
        </p:spPr>
        <p:txBody>
          <a:bodyPr wrap="square" lIns="0" tIns="0" rIns="0" bIns="0" rtlCol="0" anchor="t">
            <a:spAutoFit/>
          </a:bodyPr>
          <a:lstStyle/>
          <a:p>
            <a:pP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2.5.1. CHUẨN HÓA DỮ LIỆU (NORMALIZATION)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3" name="TextBox 24"/>
          <p:cNvSpPr txBox="1"/>
          <p:nvPr/>
        </p:nvSpPr>
        <p:spPr>
          <a:xfrm>
            <a:off x="1825342" y="4199912"/>
            <a:ext cx="9680858" cy="623697"/>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MIN–MAX NORMALIZATION (CHUẨN HÓA MIN–MAX)</a:t>
            </a:r>
          </a:p>
        </p:txBody>
      </p:sp>
      <p:grpSp>
        <p:nvGrpSpPr>
          <p:cNvPr id="4" name="Group 3"/>
          <p:cNvGrpSpPr/>
          <p:nvPr/>
        </p:nvGrpSpPr>
        <p:grpSpPr>
          <a:xfrm>
            <a:off x="1010921" y="2935605"/>
            <a:ext cx="7675879" cy="665480"/>
            <a:chOff x="1592" y="3333"/>
            <a:chExt cx="9139" cy="1048"/>
          </a:xfrm>
        </p:grpSpPr>
        <p:grpSp>
          <p:nvGrpSpPr>
            <p:cNvPr id="5" name="Group 8"/>
            <p:cNvGrpSpPr/>
            <p:nvPr/>
          </p:nvGrpSpPr>
          <p:grpSpPr>
            <a:xfrm>
              <a:off x="2986" y="3333"/>
              <a:ext cx="7745" cy="1048"/>
              <a:chOff x="0" y="0"/>
              <a:chExt cx="1295215" cy="175329"/>
            </a:xfrm>
          </p:grpSpPr>
          <p:sp>
            <p:nvSpPr>
              <p:cNvPr id="8"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9"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6" name="Freeform 11"/>
            <p:cNvSpPr/>
            <p:nvPr/>
          </p:nvSpPr>
          <p:spPr>
            <a:xfrm>
              <a:off x="1592" y="3333"/>
              <a:ext cx="792"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ltLang="en-US"/>
            </a:p>
          </p:txBody>
        </p:sp>
        <p:sp>
          <p:nvSpPr>
            <p:cNvPr id="7" name="TextBox 27"/>
            <p:cNvSpPr txBox="1"/>
            <p:nvPr/>
          </p:nvSpPr>
          <p:spPr>
            <a:xfrm>
              <a:off x="3267" y="3572"/>
              <a:ext cx="7099" cy="570"/>
            </a:xfrm>
            <a:prstGeom prst="rect">
              <a:avLst/>
            </a:prstGeom>
          </p:spPr>
          <p:txBody>
            <a:bodyPr wrap="square" lIns="0" tIns="0" rIns="0" bIns="0" rtlCol="0" anchor="t">
              <a:spAutoFit/>
            </a:bodyPr>
            <a:lstStyle/>
            <a:p>
              <a:pPr algn="ctr">
                <a:lnSpc>
                  <a:spcPts val="3080"/>
                </a:lnSpc>
              </a:pPr>
              <a:r>
                <a:rPr lang="en-US"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CÁC PHƯƠNG PHÁP CHUYỂN HÓA DỮ LIỆU</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17" name="TextBox 24"/>
          <p:cNvSpPr txBox="1"/>
          <p:nvPr/>
        </p:nvSpPr>
        <p:spPr>
          <a:xfrm>
            <a:off x="1914204" y="5384341"/>
            <a:ext cx="11344596" cy="2839688"/>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Ý tưởng: Ánh xạ dữ liệu gốc và một khoảng mới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new_min</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new_max</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Công thức: </a:t>
            </a:r>
          </a:p>
          <a:p>
            <a:pPr algn="just">
              <a:lnSpc>
                <a:spcPct val="200000"/>
              </a:lnSpc>
            </a:pPr>
            <a:endPar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a:p>
            <a:pPr marL="342900" indent="-342900" algn="just">
              <a:lnSpc>
                <a:spcPct val="200000"/>
              </a:lnSpc>
              <a:buFontTx/>
              <a:buChar char="-"/>
            </a:pPr>
            <a:endPar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19" name="Picture 18"/>
          <p:cNvPicPr>
            <a:picLocks noChangeAspect="1"/>
          </p:cNvPicPr>
          <p:nvPr/>
        </p:nvPicPr>
        <p:blipFill>
          <a:blip r:embed="rId5"/>
          <a:stretch>
            <a:fillRect/>
          </a:stretch>
        </p:blipFill>
        <p:spPr>
          <a:xfrm>
            <a:off x="3276600" y="6975464"/>
            <a:ext cx="8991600" cy="1248565"/>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592300" cy="678904"/>
          </a:xfrm>
          <a:prstGeom prst="rect">
            <a:avLst/>
          </a:prstGeom>
        </p:spPr>
        <p:txBody>
          <a:bodyPr wrap="square" lIns="0" tIns="0" rIns="0" bIns="0" rtlCol="0" anchor="t">
            <a:spAutoFit/>
          </a:bodyPr>
          <a:lstStyle/>
          <a:p>
            <a:pP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2.5.1. CHUẨN HÓA DỮ LIỆU (NORMALIZATION)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3" name="TextBox 24"/>
          <p:cNvSpPr txBox="1"/>
          <p:nvPr/>
        </p:nvSpPr>
        <p:spPr>
          <a:xfrm>
            <a:off x="1825342" y="4199912"/>
            <a:ext cx="10900058" cy="1039195"/>
          </a:xfrm>
          <a:prstGeom prst="rect">
            <a:avLst/>
          </a:prstGeom>
        </p:spPr>
        <p:txBody>
          <a:bodyPr wrap="square" lIns="0" tIns="0" rIns="0" bIns="0" rtlCol="0" anchor="t">
            <a:spAutoFit/>
          </a:bodyPr>
          <a:lstStyle/>
          <a:p>
            <a:pPr marL="342900" indent="-342900" algn="just">
              <a:lnSpc>
                <a:spcPct val="15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Z-SCORE NORMALIZATION </a:t>
            </a:r>
          </a:p>
          <a:p>
            <a:pPr algn="just">
              <a:lnSpc>
                <a:spcPct val="15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(CHUẨN HÓA Z-SCORE HAY ZERO-MEAN)</a:t>
            </a:r>
          </a:p>
        </p:txBody>
      </p:sp>
      <p:grpSp>
        <p:nvGrpSpPr>
          <p:cNvPr id="4" name="Group 3"/>
          <p:cNvGrpSpPr/>
          <p:nvPr/>
        </p:nvGrpSpPr>
        <p:grpSpPr>
          <a:xfrm>
            <a:off x="1010921" y="2935605"/>
            <a:ext cx="7675879" cy="665480"/>
            <a:chOff x="1592" y="3333"/>
            <a:chExt cx="9139" cy="1048"/>
          </a:xfrm>
        </p:grpSpPr>
        <p:grpSp>
          <p:nvGrpSpPr>
            <p:cNvPr id="5" name="Group 8"/>
            <p:cNvGrpSpPr/>
            <p:nvPr/>
          </p:nvGrpSpPr>
          <p:grpSpPr>
            <a:xfrm>
              <a:off x="2986" y="3333"/>
              <a:ext cx="7745" cy="1048"/>
              <a:chOff x="0" y="0"/>
              <a:chExt cx="1295215" cy="175329"/>
            </a:xfrm>
          </p:grpSpPr>
          <p:sp>
            <p:nvSpPr>
              <p:cNvPr id="8"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9"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6" name="Freeform 11"/>
            <p:cNvSpPr/>
            <p:nvPr/>
          </p:nvSpPr>
          <p:spPr>
            <a:xfrm>
              <a:off x="1592" y="3333"/>
              <a:ext cx="792"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7" name="TextBox 27"/>
            <p:cNvSpPr txBox="1"/>
            <p:nvPr/>
          </p:nvSpPr>
          <p:spPr>
            <a:xfrm>
              <a:off x="3267" y="3572"/>
              <a:ext cx="7099" cy="570"/>
            </a:xfrm>
            <a:prstGeom prst="rect">
              <a:avLst/>
            </a:prstGeom>
          </p:spPr>
          <p:txBody>
            <a:bodyPr wrap="square" lIns="0" tIns="0" rIns="0" bIns="0" rtlCol="0" anchor="t">
              <a:spAutoFit/>
            </a:bodyPr>
            <a:lstStyle/>
            <a:p>
              <a:pPr algn="ctr">
                <a:lnSpc>
                  <a:spcPts val="3080"/>
                </a:lnSpc>
              </a:pPr>
              <a:r>
                <a:rPr lang="en-US"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CÁC PHƯƠNG PHÁP CHUYỂN HÓA DỮ LIỆU</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17" name="TextBox 24"/>
          <p:cNvSpPr txBox="1"/>
          <p:nvPr/>
        </p:nvSpPr>
        <p:spPr>
          <a:xfrm>
            <a:off x="1914204" y="5580412"/>
            <a:ext cx="7610796" cy="2839688"/>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Ý tưởng: Dựa trên giá trị trung bình (the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mean</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và độ lệch chuẩn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standard</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deviation</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Công thức: </a:t>
            </a:r>
          </a:p>
          <a:p>
            <a:pPr marL="342900" indent="-342900" algn="just">
              <a:lnSpc>
                <a:spcPct val="200000"/>
              </a:lnSpc>
              <a:buFontTx/>
              <a:buChar char="-"/>
            </a:pPr>
            <a:endPar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18" name="Picture 17"/>
          <p:cNvPicPr>
            <a:picLocks noChangeAspect="1"/>
          </p:cNvPicPr>
          <p:nvPr/>
        </p:nvPicPr>
        <p:blipFill>
          <a:blip r:embed="rId4"/>
          <a:stretch>
            <a:fillRect/>
          </a:stretch>
        </p:blipFill>
        <p:spPr>
          <a:xfrm>
            <a:off x="4495800" y="6975957"/>
            <a:ext cx="2059891" cy="1106643"/>
          </a:xfrm>
          <a:prstGeom prst="rect">
            <a:avLst/>
          </a:prstGeom>
        </p:spPr>
      </p:pic>
      <p:sp>
        <p:nvSpPr>
          <p:cNvPr id="20" name="TextBox 19"/>
          <p:cNvSpPr txBox="1"/>
          <p:nvPr/>
        </p:nvSpPr>
        <p:spPr>
          <a:xfrm>
            <a:off x="2197988" y="7870584"/>
            <a:ext cx="4800600" cy="2193357"/>
          </a:xfrm>
          <a:prstGeom prst="rect">
            <a:avLst/>
          </a:prstGeom>
          <a:noFill/>
        </p:spPr>
        <p:txBody>
          <a:bodyPr wrap="square" rtlCol="0">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Trong đó:</a:t>
            </a: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el-GR"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Ᾱ = </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giá trị trung bình</a:t>
            </a: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el-GR"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σ</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  = độ lệch chuẩn</a:t>
            </a:r>
          </a:p>
        </p:txBody>
      </p:sp>
      <p:sp>
        <p:nvSpPr>
          <p:cNvPr id="21" name="TextBox 24"/>
          <p:cNvSpPr txBox="1"/>
          <p:nvPr/>
        </p:nvSpPr>
        <p:spPr>
          <a:xfrm>
            <a:off x="10896600" y="4199912"/>
            <a:ext cx="6324600" cy="4317016"/>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BIẾN THỂ CỦA Z-SCORE: </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Dùng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mean</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absolute</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deviation</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sA</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thay vì độ lệch chuẩn.</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Biểu thức: </a:t>
            </a: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Trong đó: 	</a:t>
            </a:r>
          </a:p>
          <a:p>
            <a:pPr algn="just">
              <a:lnSpc>
                <a:spcPct val="200000"/>
              </a:lnSpc>
            </a:pPr>
            <a:endPar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23" name="Picture 22"/>
          <p:cNvPicPr>
            <a:picLocks noChangeAspect="1"/>
          </p:cNvPicPr>
          <p:nvPr/>
        </p:nvPicPr>
        <p:blipFill>
          <a:blip r:embed="rId5"/>
          <a:stretch>
            <a:fillRect/>
          </a:stretch>
        </p:blipFill>
        <p:spPr>
          <a:xfrm>
            <a:off x="13106400" y="6496668"/>
            <a:ext cx="1656745" cy="813492"/>
          </a:xfrm>
          <a:prstGeom prst="rect">
            <a:avLst/>
          </a:prstGeom>
        </p:spPr>
      </p:pic>
      <p:pic>
        <p:nvPicPr>
          <p:cNvPr id="25" name="Picture 24"/>
          <p:cNvPicPr>
            <a:picLocks noChangeAspect="1"/>
          </p:cNvPicPr>
          <p:nvPr/>
        </p:nvPicPr>
        <p:blipFill>
          <a:blip r:embed="rId6"/>
          <a:stretch>
            <a:fillRect/>
          </a:stretch>
        </p:blipFill>
        <p:spPr>
          <a:xfrm>
            <a:off x="11289414" y="7892059"/>
            <a:ext cx="6236103" cy="669771"/>
          </a:xfrm>
          <a:prstGeom prst="rect">
            <a:avLst/>
          </a:prstGeo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592300" cy="678904"/>
          </a:xfrm>
          <a:prstGeom prst="rect">
            <a:avLst/>
          </a:prstGeom>
        </p:spPr>
        <p:txBody>
          <a:bodyPr wrap="square" lIns="0" tIns="0" rIns="0" bIns="0" rtlCol="0" anchor="t">
            <a:spAutoFit/>
          </a:bodyPr>
          <a:lstStyle/>
          <a:p>
            <a:pP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2.5.1. CHUẨN HÓA DỮ LIỆU (NORMALIZATION)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sp>
        <p:nvSpPr>
          <p:cNvPr id="3" name="TextBox 24"/>
          <p:cNvSpPr txBox="1"/>
          <p:nvPr/>
        </p:nvSpPr>
        <p:spPr>
          <a:xfrm>
            <a:off x="1825342" y="4199912"/>
            <a:ext cx="10900058" cy="623697"/>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en-US" altLang="en-US" sz="2400" b="1">
                <a:solidFill>
                  <a:srgbClr val="0E2F5F"/>
                </a:solidFill>
                <a:latin typeface="Segoe UI"/>
                <a:ea typeface="Segoe Print" panose="02000600000000000000" charset="0"/>
                <a:cs typeface="Segoe Print" panose="02000600000000000000" charset="0"/>
                <a:sym typeface="Segoe Print" panose="02000600000000000000" charset="0"/>
              </a:rPr>
              <a:t>DECIMAL SCALING NORMALIZATION (CHUẨN HÓA CHIA THẬP PHÂN)</a:t>
            </a:r>
            <a:endParaRPr lang="vi-VN" altLang="en-US" sz="2400" b="1">
              <a:solidFill>
                <a:srgbClr val="0E2F5F"/>
              </a:solidFill>
              <a:latin typeface="Segoe UI"/>
              <a:ea typeface="Segoe Print" panose="02000600000000000000" charset="0"/>
              <a:cs typeface="Segoe Print" panose="02000600000000000000" charset="0"/>
              <a:sym typeface="Segoe Print" panose="02000600000000000000" charset="0"/>
            </a:endParaRPr>
          </a:p>
        </p:txBody>
      </p:sp>
      <p:grpSp>
        <p:nvGrpSpPr>
          <p:cNvPr id="4" name="Group 3"/>
          <p:cNvGrpSpPr/>
          <p:nvPr/>
        </p:nvGrpSpPr>
        <p:grpSpPr>
          <a:xfrm>
            <a:off x="1010921" y="2935605"/>
            <a:ext cx="7675879" cy="665480"/>
            <a:chOff x="1592" y="3333"/>
            <a:chExt cx="9139" cy="1048"/>
          </a:xfrm>
        </p:grpSpPr>
        <p:grpSp>
          <p:nvGrpSpPr>
            <p:cNvPr id="5" name="Group 8"/>
            <p:cNvGrpSpPr/>
            <p:nvPr/>
          </p:nvGrpSpPr>
          <p:grpSpPr>
            <a:xfrm>
              <a:off x="2986" y="3333"/>
              <a:ext cx="7745" cy="1048"/>
              <a:chOff x="0" y="0"/>
              <a:chExt cx="1295215" cy="175329"/>
            </a:xfrm>
          </p:grpSpPr>
          <p:sp>
            <p:nvSpPr>
              <p:cNvPr id="8"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9"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6" name="Freeform 11"/>
            <p:cNvSpPr/>
            <p:nvPr/>
          </p:nvSpPr>
          <p:spPr>
            <a:xfrm>
              <a:off x="1592" y="3333"/>
              <a:ext cx="792"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7" name="TextBox 27"/>
            <p:cNvSpPr txBox="1"/>
            <p:nvPr/>
          </p:nvSpPr>
          <p:spPr>
            <a:xfrm>
              <a:off x="3267" y="3572"/>
              <a:ext cx="7099" cy="570"/>
            </a:xfrm>
            <a:prstGeom prst="rect">
              <a:avLst/>
            </a:prstGeom>
          </p:spPr>
          <p:txBody>
            <a:bodyPr wrap="square" lIns="0" tIns="0" rIns="0" bIns="0" rtlCol="0" anchor="t">
              <a:spAutoFit/>
            </a:bodyPr>
            <a:lstStyle/>
            <a:p>
              <a:pPr algn="ctr">
                <a:lnSpc>
                  <a:spcPts val="3080"/>
                </a:lnSpc>
              </a:pPr>
              <a:r>
                <a:rPr lang="en-US"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CÁC PHƯƠNG PHÁP CHUYỂN HÓA DỮ LIỆU</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17" name="TextBox 24"/>
          <p:cNvSpPr txBox="1"/>
          <p:nvPr/>
        </p:nvSpPr>
        <p:spPr>
          <a:xfrm>
            <a:off x="1914204" y="5384341"/>
            <a:ext cx="10900058" cy="2839688"/>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Ý tưởng: Di chuyển dấu thập phân sao cho giá trị tuyệt đối &lt; 1</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Công thức: </a:t>
            </a: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với j là số nhỏ nhất sao cho </a:t>
            </a:r>
          </a:p>
          <a:p>
            <a:pPr marL="342900" indent="-342900" algn="just">
              <a:lnSpc>
                <a:spcPct val="200000"/>
              </a:lnSpc>
              <a:buFontTx/>
              <a:buChar char="-"/>
            </a:pPr>
            <a:endPar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11" name="Picture 10">
            <a:extLst>
              <a:ext uri="{FF2B5EF4-FFF2-40B4-BE49-F238E27FC236}">
                <a16:creationId xmlns:a16="http://schemas.microsoft.com/office/drawing/2014/main" id="{F53F454B-8AA1-C53D-E90C-535A70C28A90}"/>
              </a:ext>
            </a:extLst>
          </p:cNvPr>
          <p:cNvPicPr>
            <a:picLocks noChangeAspect="1"/>
          </p:cNvPicPr>
          <p:nvPr/>
        </p:nvPicPr>
        <p:blipFill>
          <a:blip r:embed="rId4"/>
          <a:stretch>
            <a:fillRect/>
          </a:stretch>
        </p:blipFill>
        <p:spPr>
          <a:xfrm>
            <a:off x="6248400" y="7058914"/>
            <a:ext cx="1981200" cy="522987"/>
          </a:xfrm>
          <a:prstGeom prst="rect">
            <a:avLst/>
          </a:prstGeom>
        </p:spPr>
      </p:pic>
      <p:pic>
        <p:nvPicPr>
          <p:cNvPr id="13" name="Picture 12">
            <a:extLst>
              <a:ext uri="{FF2B5EF4-FFF2-40B4-BE49-F238E27FC236}">
                <a16:creationId xmlns:a16="http://schemas.microsoft.com/office/drawing/2014/main" id="{111B671D-1F36-0B6F-7E0B-EC69902552B3}"/>
              </a:ext>
            </a:extLst>
          </p:cNvPr>
          <p:cNvPicPr>
            <a:picLocks noChangeAspect="1"/>
          </p:cNvPicPr>
          <p:nvPr/>
        </p:nvPicPr>
        <p:blipFill>
          <a:blip r:embed="rId5"/>
          <a:stretch>
            <a:fillRect/>
          </a:stretch>
        </p:blipFill>
        <p:spPr>
          <a:xfrm>
            <a:off x="4267200" y="6065453"/>
            <a:ext cx="1676412" cy="1019182"/>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592300" cy="678904"/>
          </a:xfrm>
          <a:prstGeom prst="rect">
            <a:avLst/>
          </a:prstGeom>
        </p:spPr>
        <p:txBody>
          <a:bodyPr wrap="square" lIns="0" tIns="0" rIns="0" bIns="0" rtlCol="0" anchor="t">
            <a:spAutoFit/>
          </a:bodyPr>
          <a:lstStyle/>
          <a:p>
            <a:pP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2.5.1. CHUẨN HÓA DỮ LIỆU (NORMALIZATION)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grpSp>
        <p:nvGrpSpPr>
          <p:cNvPr id="4" name="Group 3"/>
          <p:cNvGrpSpPr/>
          <p:nvPr/>
        </p:nvGrpSpPr>
        <p:grpSpPr>
          <a:xfrm>
            <a:off x="1022454" y="2476500"/>
            <a:ext cx="7675879" cy="665480"/>
            <a:chOff x="1592" y="3333"/>
            <a:chExt cx="9139" cy="1048"/>
          </a:xfrm>
        </p:grpSpPr>
        <p:grpSp>
          <p:nvGrpSpPr>
            <p:cNvPr id="5" name="Group 8"/>
            <p:cNvGrpSpPr/>
            <p:nvPr/>
          </p:nvGrpSpPr>
          <p:grpSpPr>
            <a:xfrm>
              <a:off x="2986" y="3333"/>
              <a:ext cx="7745" cy="1048"/>
              <a:chOff x="0" y="0"/>
              <a:chExt cx="1295215" cy="175329"/>
            </a:xfrm>
          </p:grpSpPr>
          <p:sp>
            <p:nvSpPr>
              <p:cNvPr id="8"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9"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6" name="Freeform 11"/>
            <p:cNvSpPr/>
            <p:nvPr/>
          </p:nvSpPr>
          <p:spPr>
            <a:xfrm>
              <a:off x="1592" y="3333"/>
              <a:ext cx="792"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ltLang="en-US"/>
            </a:p>
          </p:txBody>
        </p:sp>
        <p:sp>
          <p:nvSpPr>
            <p:cNvPr id="7" name="TextBox 27"/>
            <p:cNvSpPr txBox="1"/>
            <p:nvPr/>
          </p:nvSpPr>
          <p:spPr>
            <a:xfrm>
              <a:off x="3267" y="3572"/>
              <a:ext cx="7099" cy="570"/>
            </a:xfrm>
            <a:prstGeom prst="rect">
              <a:avLst/>
            </a:prstGeom>
          </p:spPr>
          <p:txBody>
            <a:bodyPr wrap="square" lIns="0" tIns="0" rIns="0" bIns="0" rtlCol="0" anchor="t">
              <a:spAutoFit/>
            </a:bodyPr>
            <a:lstStyle/>
            <a:p>
              <a:pPr algn="ctr">
                <a:lnSpc>
                  <a:spcPts val="3080"/>
                </a:lnSpc>
              </a:pPr>
              <a:r>
                <a:rPr lang="en-US"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SO SÁNH CÁC PHƯƠNG PHÁP</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graphicFrame>
        <p:nvGraphicFramePr>
          <p:cNvPr id="10" name="Table 9"/>
          <p:cNvGraphicFramePr>
            <a:graphicFrameLocks noGrp="1"/>
          </p:cNvGraphicFramePr>
          <p:nvPr>
            <p:custDataLst>
              <p:tags r:id="rId1"/>
            </p:custDataLst>
          </p:nvPr>
        </p:nvGraphicFramePr>
        <p:xfrm>
          <a:off x="2181860" y="3831590"/>
          <a:ext cx="14509750" cy="5807710"/>
        </p:xfrm>
        <a:graphic>
          <a:graphicData uri="http://schemas.openxmlformats.org/drawingml/2006/table">
            <a:tbl>
              <a:tblPr firstRow="1" bandRow="1">
                <a:tableStyleId>{5C22544A-7EE6-4342-B048-85BDC9FD1C3A}</a:tableStyleId>
              </a:tblPr>
              <a:tblGrid>
                <a:gridCol w="3562350">
                  <a:extLst>
                    <a:ext uri="{9D8B030D-6E8A-4147-A177-3AD203B41FA5}">
                      <a16:colId xmlns:a16="http://schemas.microsoft.com/office/drawing/2014/main" val="20000"/>
                    </a:ext>
                  </a:extLst>
                </a:gridCol>
                <a:gridCol w="3625850">
                  <a:extLst>
                    <a:ext uri="{9D8B030D-6E8A-4147-A177-3AD203B41FA5}">
                      <a16:colId xmlns:a16="http://schemas.microsoft.com/office/drawing/2014/main" val="20001"/>
                    </a:ext>
                  </a:extLst>
                </a:gridCol>
                <a:gridCol w="3498850">
                  <a:extLst>
                    <a:ext uri="{9D8B030D-6E8A-4147-A177-3AD203B41FA5}">
                      <a16:colId xmlns:a16="http://schemas.microsoft.com/office/drawing/2014/main" val="20002"/>
                    </a:ext>
                  </a:extLst>
                </a:gridCol>
                <a:gridCol w="3822700">
                  <a:extLst>
                    <a:ext uri="{9D8B030D-6E8A-4147-A177-3AD203B41FA5}">
                      <a16:colId xmlns:a16="http://schemas.microsoft.com/office/drawing/2014/main" val="20003"/>
                    </a:ext>
                  </a:extLst>
                </a:gridCol>
              </a:tblGrid>
              <a:tr h="1080135">
                <a:tc>
                  <a:txBody>
                    <a:bodyPr/>
                    <a:lstStyle/>
                    <a:p>
                      <a:pPr algn="ctr"/>
                      <a:endParaRPr lang="en-US">
                        <a:latin typeface="Segoe UI" panose="020B0502040204020203" pitchFamily="34" charset="0"/>
                        <a:cs typeface="Segoe UI" panose="020B0502040204020203" pitchFamily="34" charset="0"/>
                      </a:endParaRPr>
                    </a:p>
                    <a:p>
                      <a:pPr algn="ctr"/>
                      <a:r>
                        <a:rPr lang="en-US">
                          <a:latin typeface="Segoe UI" panose="020B0502040204020203" pitchFamily="34" charset="0"/>
                          <a:cs typeface="Segoe UI" panose="020B0502040204020203" pitchFamily="34" charset="0"/>
                        </a:rPr>
                        <a:t> PHƯƠNG PHÁP</a:t>
                      </a:r>
                      <a:endParaRPr lang="vi-VN">
                        <a:latin typeface="Segoe UI" panose="020B0502040204020203" pitchFamily="34" charset="0"/>
                        <a:cs typeface="Segoe UI" panose="020B0502040204020203" pitchFamily="34" charset="0"/>
                      </a:endParaRPr>
                    </a:p>
                  </a:txBody>
                  <a:tcPr/>
                </a:tc>
                <a:tc>
                  <a:txBody>
                    <a:bodyPr/>
                    <a:lstStyle/>
                    <a:p>
                      <a:pPr algn="ctr"/>
                      <a:endParaRPr lang="en-US">
                        <a:latin typeface="Segoe UI" panose="020B0502040204020203" pitchFamily="34" charset="0"/>
                        <a:cs typeface="Segoe UI" panose="020B0502040204020203" pitchFamily="34" charset="0"/>
                      </a:endParaRPr>
                    </a:p>
                    <a:p>
                      <a:pPr algn="ctr"/>
                      <a:r>
                        <a:rPr lang="en-US">
                          <a:latin typeface="Segoe UI" panose="020B0502040204020203" pitchFamily="34" charset="0"/>
                          <a:cs typeface="Segoe UI" panose="020B0502040204020203" pitchFamily="34" charset="0"/>
                        </a:rPr>
                        <a:t>CÔNG THỨC</a:t>
                      </a:r>
                      <a:endParaRPr lang="vi-VN">
                        <a:latin typeface="Segoe UI" panose="020B0502040204020203" pitchFamily="34" charset="0"/>
                        <a:cs typeface="Segoe UI" panose="020B0502040204020203" pitchFamily="34" charset="0"/>
                      </a:endParaRPr>
                    </a:p>
                  </a:txBody>
                  <a:tcPr/>
                </a:tc>
                <a:tc>
                  <a:txBody>
                    <a:bodyPr/>
                    <a:lstStyle/>
                    <a:p>
                      <a:pPr algn="ctr"/>
                      <a:endParaRPr lang="en-US">
                        <a:latin typeface="Segoe UI" panose="020B0502040204020203" pitchFamily="34" charset="0"/>
                        <a:cs typeface="Segoe UI" panose="020B0502040204020203" pitchFamily="34" charset="0"/>
                      </a:endParaRPr>
                    </a:p>
                    <a:p>
                      <a:pPr algn="ctr"/>
                      <a:r>
                        <a:rPr lang="en-US">
                          <a:latin typeface="Segoe UI" panose="020B0502040204020203" pitchFamily="34" charset="0"/>
                          <a:cs typeface="Segoe UI" panose="020B0502040204020203" pitchFamily="34" charset="0"/>
                        </a:rPr>
                        <a:t>ƯU ĐIỂM</a:t>
                      </a:r>
                      <a:endParaRPr lang="vi-VN">
                        <a:latin typeface="Segoe UI" panose="020B0502040204020203" pitchFamily="34" charset="0"/>
                        <a:cs typeface="Segoe UI" panose="020B0502040204020203" pitchFamily="34" charset="0"/>
                      </a:endParaRPr>
                    </a:p>
                  </a:txBody>
                  <a:tcPr/>
                </a:tc>
                <a:tc>
                  <a:txBody>
                    <a:bodyPr/>
                    <a:lstStyle/>
                    <a:p>
                      <a:pPr algn="ctr"/>
                      <a:endParaRPr lang="en-US">
                        <a:latin typeface="Segoe UI" panose="020B0502040204020203" pitchFamily="34" charset="0"/>
                        <a:cs typeface="Segoe UI" panose="020B0502040204020203" pitchFamily="34" charset="0"/>
                      </a:endParaRPr>
                    </a:p>
                    <a:p>
                      <a:pPr algn="ctr"/>
                      <a:r>
                        <a:rPr lang="en-US">
                          <a:latin typeface="Segoe UI" panose="020B0502040204020203" pitchFamily="34" charset="0"/>
                          <a:cs typeface="Segoe UI" panose="020B0502040204020203" pitchFamily="34" charset="0"/>
                        </a:rPr>
                        <a:t>HẠN CHẾ</a:t>
                      </a:r>
                      <a:endParaRPr lang="vi-VN">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0"/>
                  </a:ext>
                </a:extLst>
              </a:tr>
              <a:tr h="1079500">
                <a:tc>
                  <a:txBody>
                    <a:bodyPr/>
                    <a:lstStyle/>
                    <a:p>
                      <a:pPr algn="ctr"/>
                      <a:r>
                        <a:rPr lang="en-US" b="1">
                          <a:solidFill>
                            <a:schemeClr val="tx2">
                              <a:lumMod val="50000"/>
                            </a:schemeClr>
                          </a:solidFill>
                          <a:latin typeface="Segoe UI" panose="020B0502040204020203" pitchFamily="34" charset="0"/>
                          <a:cs typeface="Segoe UI" panose="020B0502040204020203" pitchFamily="34" charset="0"/>
                        </a:rPr>
                        <a:t>MIN – MAX</a:t>
                      </a:r>
                      <a:endParaRPr lang="vi-VN" b="1">
                        <a:solidFill>
                          <a:schemeClr val="tx2">
                            <a:lumMod val="50000"/>
                          </a:schemeClr>
                        </a:solidFill>
                        <a:latin typeface="Segoe UI" panose="020B0502040204020203" pitchFamily="34" charset="0"/>
                        <a:cs typeface="Segoe UI" panose="020B0502040204020203" pitchFamily="34" charset="0"/>
                      </a:endParaRPr>
                    </a:p>
                  </a:txBody>
                  <a:tcPr anchor="ctr" anchorCtr="1"/>
                </a:tc>
                <a:tc>
                  <a:txBody>
                    <a:bodyPr/>
                    <a:lstStyle/>
                    <a:p>
                      <a:pPr>
                        <a:lnSpc>
                          <a:spcPct val="120000"/>
                        </a:lnSpc>
                      </a:pPr>
                      <a:r>
                        <a:rPr lang="pt-BR" sz="2000">
                          <a:solidFill>
                            <a:schemeClr val="tx2">
                              <a:lumMod val="50000"/>
                            </a:schemeClr>
                          </a:solidFill>
                          <a:latin typeface="Segoe UI" panose="020B0502040204020203" pitchFamily="34" charset="0"/>
                          <a:cs typeface="Segoe UI" panose="020B0502040204020203" pitchFamily="34" charset="0"/>
                        </a:rPr>
                        <a:t>Ánh xạ về [a, b]</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Dễ</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hiểu</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giữ</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quan</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hệ</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dữ</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liệu</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Nhạy</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cảm</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với</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giá</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trị</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mới</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(out-of-bounds)</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extLst>
                  <a:ext uri="{0D108BD9-81ED-4DB2-BD59-A6C34878D82A}">
                    <a16:rowId xmlns:a16="http://schemas.microsoft.com/office/drawing/2014/main" val="10001"/>
                  </a:ext>
                </a:extLst>
              </a:tr>
              <a:tr h="1488440">
                <a:tc>
                  <a:txBody>
                    <a:bodyPr/>
                    <a:lstStyle/>
                    <a:p>
                      <a:pPr algn="ctr"/>
                      <a:r>
                        <a:rPr lang="en-US" b="1">
                          <a:solidFill>
                            <a:schemeClr val="tx2">
                              <a:lumMod val="50000"/>
                            </a:schemeClr>
                          </a:solidFill>
                          <a:latin typeface="Segoe UI" panose="020B0502040204020203" pitchFamily="34" charset="0"/>
                          <a:cs typeface="Segoe UI" panose="020B0502040204020203" pitchFamily="34" charset="0"/>
                        </a:rPr>
                        <a:t>Z-SCORE </a:t>
                      </a:r>
                      <a:endParaRPr lang="vi-VN" b="1">
                        <a:solidFill>
                          <a:schemeClr val="tx2">
                            <a:lumMod val="50000"/>
                          </a:schemeClr>
                        </a:solidFill>
                        <a:latin typeface="Segoe UI" panose="020B0502040204020203" pitchFamily="34" charset="0"/>
                        <a:cs typeface="Segoe UI" panose="020B0502040204020203" pitchFamily="34" charset="0"/>
                      </a:endParaRPr>
                    </a:p>
                  </a:txBody>
                  <a:tcPr anchor="ctr" anchorCtr="1"/>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Dựa</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trên</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mean</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tc>
                  <a:txBody>
                    <a:bodyPr/>
                    <a:lstStyle/>
                    <a:p>
                      <a:pPr>
                        <a:lnSpc>
                          <a:spcPct val="120000"/>
                        </a:lnSpc>
                      </a:pP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Dùng</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tốt</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khi</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không</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biết</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min, max</a:t>
                      </a:r>
                      <a:endParaRPr lang="vi-VN" sz="2000" kern="1200">
                        <a:solidFill>
                          <a:schemeClr val="tx2">
                            <a:lumMod val="50000"/>
                          </a:schemeClr>
                        </a:solidFill>
                        <a:effectLst/>
                        <a:latin typeface="Segoe UI" panose="020B0502040204020203" pitchFamily="34" charset="0"/>
                        <a:ea typeface="+mn-ea"/>
                        <a:cs typeface="Segoe UI" panose="020B0502040204020203" pitchFamily="34" charset="0"/>
                      </a:endParaRPr>
                    </a:p>
                    <a:p>
                      <a:pPr>
                        <a:lnSpc>
                          <a:spcPct val="120000"/>
                        </a:lnSpc>
                      </a:pP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Kháng</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ngoại</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lai</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Tính</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toán</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phức</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tạp</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hơn</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extLst>
                  <a:ext uri="{0D108BD9-81ED-4DB2-BD59-A6C34878D82A}">
                    <a16:rowId xmlns:a16="http://schemas.microsoft.com/office/drawing/2014/main" val="10002"/>
                  </a:ext>
                </a:extLst>
              </a:tr>
              <a:tr h="1079500">
                <a:tc>
                  <a:txBody>
                    <a:bodyPr/>
                    <a:lstStyle/>
                    <a:p>
                      <a:pPr algn="ctr"/>
                      <a:r>
                        <a:rPr lang="en-US" b="1">
                          <a:solidFill>
                            <a:schemeClr val="tx2">
                              <a:lumMod val="50000"/>
                            </a:schemeClr>
                          </a:solidFill>
                          <a:latin typeface="Segoe UI" panose="020B0502040204020203" pitchFamily="34" charset="0"/>
                          <a:cs typeface="Segoe UI" panose="020B0502040204020203" pitchFamily="34" charset="0"/>
                        </a:rPr>
                        <a:t>Z-SCORE BIỂN THỂ</a:t>
                      </a:r>
                      <a:endParaRPr lang="vi-VN" b="1">
                        <a:solidFill>
                          <a:schemeClr val="tx2">
                            <a:lumMod val="50000"/>
                          </a:schemeClr>
                        </a:solidFill>
                        <a:latin typeface="Segoe UI" panose="020B0502040204020203" pitchFamily="34" charset="0"/>
                        <a:cs typeface="Segoe UI" panose="020B0502040204020203" pitchFamily="34" charset="0"/>
                      </a:endParaRPr>
                    </a:p>
                  </a:txBody>
                  <a:tcPr anchor="ctr" anchorCtr="1"/>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Dựa</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trên</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standard deviation </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Ít</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bị</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ảnh</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hưởng</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so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với</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độ</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lệch</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chuẩn</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Tính</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toán</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chậm</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hơn</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ít</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phổ</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biến</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trong</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thực</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hành</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extLst>
                  <a:ext uri="{0D108BD9-81ED-4DB2-BD59-A6C34878D82A}">
                    <a16:rowId xmlns:a16="http://schemas.microsoft.com/office/drawing/2014/main" val="10003"/>
                  </a:ext>
                </a:extLst>
              </a:tr>
              <a:tr h="1080135">
                <a:tc>
                  <a:txBody>
                    <a:bodyPr/>
                    <a:lstStyle/>
                    <a:p>
                      <a:pPr algn="ctr"/>
                      <a:r>
                        <a:rPr lang="en-US" altLang="en-US" sz="18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CHIA THẬP PHÂN</a:t>
                      </a:r>
                      <a:endParaRPr lang="vi-VN"/>
                    </a:p>
                  </a:txBody>
                  <a:tcPr anchor="ctr" anchorCtr="1"/>
                </a:tc>
                <a:tc>
                  <a:txBody>
                    <a:bodyPr/>
                    <a:lstStyle/>
                    <a:p>
                      <a:pPr>
                        <a:lnSpc>
                          <a:spcPct val="120000"/>
                        </a:lnSpc>
                      </a:pP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Chia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cho</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10^j</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Rất</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đơn</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giản</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tc>
                  <a:txBody>
                    <a:bodyPr/>
                    <a:lstStyle/>
                    <a:p>
                      <a:pPr>
                        <a:lnSpc>
                          <a:spcPct val="120000"/>
                        </a:lnSpc>
                      </a:pP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Mất</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nhiều</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thông</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tin,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ít</a:t>
                      </a:r>
                      <a:r>
                        <a:rPr lang="en-US" sz="2000" kern="1200">
                          <a:solidFill>
                            <a:schemeClr val="tx2">
                              <a:lumMod val="50000"/>
                            </a:schemeClr>
                          </a:solidFill>
                          <a:effectLst/>
                          <a:latin typeface="Segoe UI" panose="020B0502040204020203" pitchFamily="34" charset="0"/>
                          <a:ea typeface="+mn-ea"/>
                          <a:cs typeface="Segoe UI" panose="020B0502040204020203" pitchFamily="34" charset="0"/>
                        </a:rPr>
                        <a:t> </a:t>
                      </a:r>
                      <a:r>
                        <a:rPr lang="en-US" sz="2000" kern="1200" err="1">
                          <a:solidFill>
                            <a:schemeClr val="tx2">
                              <a:lumMod val="50000"/>
                            </a:schemeClr>
                          </a:solidFill>
                          <a:effectLst/>
                          <a:latin typeface="Segoe UI" panose="020B0502040204020203" pitchFamily="34" charset="0"/>
                          <a:ea typeface="+mn-ea"/>
                          <a:cs typeface="Segoe UI" panose="020B0502040204020203" pitchFamily="34" charset="0"/>
                        </a:rPr>
                        <a:t>dùng</a:t>
                      </a:r>
                      <a:endParaRPr lang="vi-VN" sz="2000">
                        <a:solidFill>
                          <a:schemeClr val="tx2">
                            <a:lumMod val="50000"/>
                          </a:schemeClr>
                        </a:solidFill>
                        <a:latin typeface="Segoe UI" panose="020B0502040204020203" pitchFamily="34" charset="0"/>
                        <a:cs typeface="Segoe UI" panose="020B0502040204020203" pitchFamily="34" charset="0"/>
                      </a:endParaRPr>
                    </a:p>
                  </a:txBody>
                  <a:tcPr anchor="ctr"/>
                </a:tc>
                <a:extLst>
                  <a:ext uri="{0D108BD9-81ED-4DB2-BD59-A6C34878D82A}">
                    <a16:rowId xmlns:a16="http://schemas.microsoft.com/office/drawing/2014/main" val="10004"/>
                  </a:ext>
                </a:extLst>
              </a:tr>
            </a:tbl>
          </a:graphicData>
        </a:graphic>
      </p:graphicFrame>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678904"/>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2.5.2. RỜI RẠC HÓA DỮ LIỆU  (DATA DISCRETIZATION)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grpSp>
        <p:nvGrpSpPr>
          <p:cNvPr id="3" name="Group 2"/>
          <p:cNvGrpSpPr/>
          <p:nvPr/>
        </p:nvGrpSpPr>
        <p:grpSpPr>
          <a:xfrm>
            <a:off x="1012102" y="3086100"/>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KHÁI NIỆM</a:t>
              </a:r>
            </a:p>
          </p:txBody>
        </p:sp>
      </p:grpSp>
      <p:sp>
        <p:nvSpPr>
          <p:cNvPr id="9" name="TextBox 24"/>
          <p:cNvSpPr txBox="1"/>
          <p:nvPr/>
        </p:nvSpPr>
        <p:spPr>
          <a:xfrm>
            <a:off x="1897292" y="4457700"/>
            <a:ext cx="8156575" cy="2839688"/>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Rời rạc hóa dữ liệu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Data</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discretization</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là một kỹ thuật chuyển đổi dữ liệu phổ biến, trong đó các giá trị thô của một thuộc tính số (ví dụ: tuổi) được thay thế bằng các nhãn (khoảng hoặc khái niệm)</a:t>
            </a:r>
            <a:endPar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1026" name="Picture 2">
            <a:extLst>
              <a:ext uri="{FF2B5EF4-FFF2-40B4-BE49-F238E27FC236}">
                <a16:creationId xmlns:a16="http://schemas.microsoft.com/office/drawing/2014/main" id="{AB0E664B-1B0D-287E-2BBD-97CABD5C3E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63400" y="4152900"/>
            <a:ext cx="4956161" cy="32997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678904"/>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2.5.2. RỜI RẠC HÓA DỮ LIỆU  (DATA DISCRETIZATION)</a:t>
            </a:r>
            <a:endPar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endParaRPr>
          </a:p>
        </p:txBody>
      </p:sp>
      <p:grpSp>
        <p:nvGrpSpPr>
          <p:cNvPr id="3" name="Group 2"/>
          <p:cNvGrpSpPr/>
          <p:nvPr/>
        </p:nvGrpSpPr>
        <p:grpSpPr>
          <a:xfrm>
            <a:off x="1012102" y="2247900"/>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PHÂN LOẠI</a:t>
              </a:r>
            </a:p>
          </p:txBody>
        </p:sp>
      </p:grpSp>
      <p:sp>
        <p:nvSpPr>
          <p:cNvPr id="9" name="TextBox 24"/>
          <p:cNvSpPr txBox="1"/>
          <p:nvPr/>
        </p:nvSpPr>
        <p:spPr>
          <a:xfrm>
            <a:off x="1897292" y="3543300"/>
            <a:ext cx="10218508" cy="2101024"/>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Các kỹ thuật rời rạc hóa có thể được phân loại dựa trên việc chúng có sử dụng thông tin lớp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class</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hay không.</a:t>
            </a:r>
            <a:endPar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a:p>
            <a:pPr algn="just">
              <a:lnSpc>
                <a:spcPct val="200000"/>
              </a:lnSpc>
            </a:pPr>
            <a:endPar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sp>
        <p:nvSpPr>
          <p:cNvPr id="10" name="TextBox 24"/>
          <p:cNvSpPr txBox="1"/>
          <p:nvPr/>
        </p:nvSpPr>
        <p:spPr>
          <a:xfrm>
            <a:off x="1897292" y="5445337"/>
            <a:ext cx="10218508" cy="4317016"/>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Ø"/>
            </a:pPr>
            <a:r>
              <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Rời rạc hóa không giám sát (</a:t>
            </a:r>
            <a:r>
              <a:rPr lang="vi-VN"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Unsupervised</a:t>
            </a:r>
            <a:r>
              <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Discretization</a:t>
            </a:r>
            <a:r>
              <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algn="just">
              <a:lnSpc>
                <a:spcPct val="200000"/>
              </a:lnSpc>
            </a:pP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Phương pháp này không xem xét nhãn lớp khi xác định các điểm chia cho các giá trị liên tục.</a:t>
            </a:r>
          </a:p>
          <a:p>
            <a:pPr marL="342900" indent="-342900" algn="just">
              <a:lnSpc>
                <a:spcPct val="200000"/>
              </a:lnSpc>
              <a:buFont typeface="Wingdings" panose="05000000000000000000" pitchFamily="2" charset="2"/>
              <a:buChar char="Ø"/>
            </a:pPr>
            <a:r>
              <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Rời rạc hóa có giám sát (</a:t>
            </a:r>
            <a:r>
              <a:rPr lang="vi-VN"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Supervised</a:t>
            </a:r>
            <a:r>
              <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Discretization</a:t>
            </a:r>
            <a:r>
              <a:rPr lang="vi-VN"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algn="just">
              <a:lnSpc>
                <a:spcPct val="200000"/>
              </a:lnSpc>
            </a:pP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Phương pháp này sử dụng thông tin lớp để tìm ra các điểm chia tốt nhất, nhằm tối ưu hóa một thước đo cụ thể liên quan đến phân bố lớp.</a:t>
            </a:r>
          </a:p>
        </p:txBody>
      </p:sp>
      <p:pic>
        <p:nvPicPr>
          <p:cNvPr id="13" name="Picture 12">
            <a:extLst>
              <a:ext uri="{FF2B5EF4-FFF2-40B4-BE49-F238E27FC236}">
                <a16:creationId xmlns:a16="http://schemas.microsoft.com/office/drawing/2014/main" id="{1F332BCC-59B1-D1A6-3FBD-E42F6B8B9733}"/>
              </a:ext>
            </a:extLst>
          </p:cNvPr>
          <p:cNvPicPr>
            <a:picLocks noChangeAspect="1"/>
          </p:cNvPicPr>
          <p:nvPr/>
        </p:nvPicPr>
        <p:blipFill>
          <a:blip r:embed="rId4"/>
          <a:stretch>
            <a:fillRect/>
          </a:stretch>
        </p:blipFill>
        <p:spPr>
          <a:xfrm>
            <a:off x="12573000" y="5143500"/>
            <a:ext cx="5638800" cy="2831798"/>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1409873"/>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2.5.2. RỜI RẠC HÓA DỮ LIỆU  (DATA DISCRETIZATION)</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12102" y="3106420"/>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PHƯƠNG PHÁP BINNING</a:t>
              </a:r>
            </a:p>
          </p:txBody>
        </p:sp>
      </p:grpSp>
      <p:sp>
        <p:nvSpPr>
          <p:cNvPr id="9" name="TextBox 24"/>
          <p:cNvSpPr txBox="1"/>
          <p:nvPr/>
        </p:nvSpPr>
        <p:spPr>
          <a:xfrm>
            <a:off x="1897292" y="4457700"/>
            <a:ext cx="8161108" cy="3578352"/>
          </a:xfrm>
          <a:prstGeom prst="rect">
            <a:avLst/>
          </a:prstGeom>
        </p:spPr>
        <p:txBody>
          <a:bodyPr wrap="square" lIns="0" tIns="0" rIns="0" bIns="0" rtlCol="0" anchor="t">
            <a:spAutoFit/>
          </a:bodyPr>
          <a:lstStyle/>
          <a:p>
            <a:pPr algn="just">
              <a:lnSpc>
                <a:spcPct val="200000"/>
              </a:lnSpc>
            </a:pP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Binning</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là một kỹ thuật rời rạc hóa không giám sát, hoạt động theo cách từ trên xuống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top-down</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được sử dụng để giảm dữ liệu và tạo phân cấp khái niệm. Nó chia phạm vi của một thuộc tính liên tục thành một số lượng khoảng (hoặc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bins</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được chỉ định trước.</a:t>
            </a:r>
            <a:endPar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2050" name="Picture 2">
            <a:extLst>
              <a:ext uri="{FF2B5EF4-FFF2-40B4-BE49-F238E27FC236}">
                <a16:creationId xmlns:a16="http://schemas.microsoft.com/office/drawing/2014/main" id="{A8095DEC-41C6-12C9-C00B-8B770F507B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1400" y="4800773"/>
            <a:ext cx="6627951" cy="289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1409873"/>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2.5.2. RỜI RẠC HÓA DỮ LIỆU  (DATA DISCRETIZATION)</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27451" y="2314748"/>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PHÂN TÍCH BIỂU ĐỒ TẦN SUẤT</a:t>
              </a:r>
            </a:p>
          </p:txBody>
        </p:sp>
      </p:grpSp>
      <p:sp>
        <p:nvSpPr>
          <p:cNvPr id="9" name="TextBox 24"/>
          <p:cNvSpPr txBox="1"/>
          <p:nvPr/>
        </p:nvSpPr>
        <p:spPr>
          <a:xfrm>
            <a:off x="1912641" y="3543855"/>
            <a:ext cx="10512955" cy="6533007"/>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Phân tích biểu đồ tần suất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là một kỹ thuật rời rạc hóa không giám sát, phân chia các giá trị của một thuộc tính A thành các khoảng rời nhau, được gọi là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buckets</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hoặc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bins</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marL="342900" indent="-342900" algn="just">
              <a:lnSpc>
                <a:spcPct val="200000"/>
              </a:lnSpc>
              <a:buFont typeface="Arial" panose="020B0604020202020204" pitchFamily="34" charset="0"/>
              <a:buChar char="•"/>
            </a:pP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Nếu mỗi </a:t>
            </a:r>
            <a:r>
              <a:rPr lang="vi-VN"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bucket</a:t>
            </a: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chỉ đại diện cho một cặp giá trị–tần suất duy nhất, thì chúng được gọi là </a:t>
            </a:r>
            <a:r>
              <a:rPr lang="vi-VN"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singleton</a:t>
            </a: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buckets</a:t>
            </a: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marL="342900" indent="-342900" algn="just">
              <a:lnSpc>
                <a:spcPct val="200000"/>
              </a:lnSpc>
              <a:buFont typeface="Arial" panose="020B0604020202020204" pitchFamily="34" charset="0"/>
              <a:buChar char="•"/>
            </a:pPr>
            <a:r>
              <a:rPr lang="vi-VN"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Singleton</a:t>
            </a: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buckets</a:t>
            </a: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rất hữu ích để lưu trữ các giá trị ngoại lai có tần suất cao</a:t>
            </a:r>
          </a:p>
          <a:p>
            <a:pPr marL="342900" indent="-342900" algn="just">
              <a:lnSpc>
                <a:spcPct val="200000"/>
              </a:lnSpc>
              <a:buFont typeface="Arial" panose="020B0604020202020204" pitchFamily="34" charset="0"/>
              <a:buChar char="•"/>
            </a:pP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Thông thường, các </a:t>
            </a:r>
            <a:r>
              <a:rPr lang="vi-VN"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bucket</a:t>
            </a:r>
            <a:r>
              <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sẽ đại diện cho những khoảng liên tục của thuộc tính đã cho.</a:t>
            </a:r>
          </a:p>
          <a:p>
            <a:pPr algn="just">
              <a:lnSpc>
                <a:spcPct val="200000"/>
              </a:lnSpc>
            </a:pPr>
            <a:endPar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11" name="Picture 10"/>
          <p:cNvPicPr>
            <a:picLocks noChangeAspect="1"/>
          </p:cNvPicPr>
          <p:nvPr/>
        </p:nvPicPr>
        <p:blipFill>
          <a:blip r:embed="rId4"/>
          <a:stretch>
            <a:fillRect/>
          </a:stretch>
        </p:blipFill>
        <p:spPr>
          <a:xfrm>
            <a:off x="12958724" y="3848100"/>
            <a:ext cx="5329276" cy="4976849"/>
          </a:xfrm>
          <a:prstGeom prst="rect">
            <a:avLst/>
          </a:prstGeom>
        </p:spPr>
      </p:pic>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3. NÉN DỮ LIỆU (</a:t>
            </a:r>
            <a:r>
              <a:rPr lang="it-IT"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DATA C</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OMPRESSION)</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27451" y="2314748"/>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KHÁI NIỆM</a:t>
              </a:r>
            </a:p>
          </p:txBody>
        </p:sp>
      </p:grpSp>
      <p:sp>
        <p:nvSpPr>
          <p:cNvPr id="9" name="TextBox 24"/>
          <p:cNvSpPr txBox="1"/>
          <p:nvPr/>
        </p:nvSpPr>
        <p:spPr>
          <a:xfrm>
            <a:off x="1912641" y="3194562"/>
            <a:ext cx="10512955" cy="1362361"/>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Nén dữ liệu là các quá trình biến đổi được áp dụng để có được một biểu diễn thu gọn hoặc "nén" lại của dữ liệu gốc.</a:t>
            </a:r>
            <a:endPar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nvGrpSpPr>
          <p:cNvPr id="10" name="Group 9"/>
          <p:cNvGrpSpPr/>
          <p:nvPr/>
        </p:nvGrpSpPr>
        <p:grpSpPr>
          <a:xfrm>
            <a:off x="1027451" y="5447592"/>
            <a:ext cx="5803265" cy="665480"/>
            <a:chOff x="1592" y="3333"/>
            <a:chExt cx="9139" cy="1048"/>
          </a:xfrm>
        </p:grpSpPr>
        <p:grpSp>
          <p:nvGrpSpPr>
            <p:cNvPr id="12" name="Group 11"/>
            <p:cNvGrpSpPr/>
            <p:nvPr/>
          </p:nvGrpSpPr>
          <p:grpSpPr>
            <a:xfrm>
              <a:off x="2986" y="3333"/>
              <a:ext cx="7745" cy="1048"/>
              <a:chOff x="0" y="0"/>
              <a:chExt cx="1295215" cy="175329"/>
            </a:xfrm>
          </p:grpSpPr>
          <p:sp>
            <p:nvSpPr>
              <p:cNvPr id="15"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16"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13"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14"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MỤC ĐÍCH</a:t>
              </a:r>
            </a:p>
          </p:txBody>
        </p:sp>
      </p:grpSp>
      <p:sp>
        <p:nvSpPr>
          <p:cNvPr id="17" name="TextBox 24"/>
          <p:cNvSpPr txBox="1"/>
          <p:nvPr/>
        </p:nvSpPr>
        <p:spPr>
          <a:xfrm>
            <a:off x="1905146" y="6331144"/>
            <a:ext cx="10512955" cy="1362361"/>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Nén dữ liệu giúp tiết kiệm không gian lưu trữ và tăng tốc độ xử lý cho các thuật toán khai phá dữ liệu</a:t>
            </a:r>
            <a:endPar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sp>
        <p:nvSpPr>
          <p:cNvPr id="20" name="TextBox 24"/>
          <p:cNvSpPr txBox="1"/>
          <p:nvPr/>
        </p:nvSpPr>
        <p:spPr>
          <a:xfrm>
            <a:off x="1912641" y="8361166"/>
            <a:ext cx="12826584" cy="1362361"/>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Ví dụ: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Hãy tưởng tượng bạn nén một thư mục chứa nhiều tài liệu thành một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file</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ZIP duy nhất </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Wingdings" panose="05000000000000000000" pitchFamily="2" charset="2"/>
              </a:rPr>
              <a:t></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File</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ZIP nhỏ hơn nhiều, giúp bạn gửi qua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email</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dễ dàng hơn. Đó chính là nén dữ liệu.</a:t>
            </a:r>
            <a:endPar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21" name="Picture 20">
            <a:extLst>
              <a:ext uri="{FF2B5EF4-FFF2-40B4-BE49-F238E27FC236}">
                <a16:creationId xmlns:a16="http://schemas.microsoft.com/office/drawing/2014/main" id="{9CE05E9F-8183-BBED-10DD-4A56753634CC}"/>
              </a:ext>
            </a:extLst>
          </p:cNvPr>
          <p:cNvPicPr>
            <a:picLocks noChangeAspect="1"/>
          </p:cNvPicPr>
          <p:nvPr/>
        </p:nvPicPr>
        <p:blipFill>
          <a:blip r:embed="rId4"/>
          <a:stretch>
            <a:fillRect/>
          </a:stretch>
        </p:blipFill>
        <p:spPr>
          <a:xfrm>
            <a:off x="13285782" y="4076700"/>
            <a:ext cx="4553391" cy="2245075"/>
          </a:xfrm>
          <a:prstGeom prst="rect">
            <a:avLst/>
          </a:prstGeom>
        </p:spPr>
      </p:pic>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3. NÉN DỮ LIỆU (</a:t>
            </a:r>
            <a:r>
              <a:rPr lang="it-IT"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DATA C</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OMPRESSION)</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27451" y="2314748"/>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PHƯƠNG PHÁP</a:t>
              </a:r>
            </a:p>
          </p:txBody>
        </p:sp>
      </p:grpSp>
      <p:sp>
        <p:nvSpPr>
          <p:cNvPr id="9" name="TextBox 24"/>
          <p:cNvSpPr txBox="1"/>
          <p:nvPr/>
        </p:nvSpPr>
        <p:spPr>
          <a:xfrm>
            <a:off x="1912641" y="3118945"/>
            <a:ext cx="14816261" cy="623697"/>
          </a:xfrm>
          <a:prstGeom prst="rect">
            <a:avLst/>
          </a:prstGeom>
        </p:spPr>
        <p:txBody>
          <a:bodyPr wrap="square" lIns="0" tIns="0" rIns="0" bIns="0" rtlCol="0" anchor="t">
            <a:spAutoFit/>
          </a:bodyPr>
          <a:lstStyle/>
          <a:p>
            <a:pPr algn="just">
              <a:lnSpc>
                <a:spcPct val="200000"/>
              </a:lnSpc>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Có hai phương pháp nén chính, tùy theo khả năng khôi phục dữ liệu gốc hoàn hảo hay không</a:t>
            </a:r>
            <a:endParaRPr lang="vi-VN"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nvGrpSpPr>
          <p:cNvPr id="11" name="Group 5"/>
          <p:cNvGrpSpPr/>
          <p:nvPr>
            <p:custDataLst>
              <p:tags r:id="rId1"/>
            </p:custDataLst>
          </p:nvPr>
        </p:nvGrpSpPr>
        <p:grpSpPr>
          <a:xfrm>
            <a:off x="2231328" y="4533900"/>
            <a:ext cx="5312472" cy="665701"/>
            <a:chOff x="0" y="0"/>
            <a:chExt cx="1332724" cy="175329"/>
          </a:xfrm>
        </p:grpSpPr>
        <p:sp>
          <p:nvSpPr>
            <p:cNvPr id="18" name="Freeform 6"/>
            <p:cNvSpPr/>
            <p:nvPr>
              <p:custDataLst>
                <p:tags r:id="rId13"/>
              </p:custDataLst>
            </p:nvPr>
          </p:nvSpPr>
          <p:spPr>
            <a:xfrm>
              <a:off x="0" y="0"/>
              <a:ext cx="1332724" cy="175329"/>
            </a:xfrm>
            <a:custGeom>
              <a:avLst/>
              <a:gdLst/>
              <a:ahLst/>
              <a:cxnLst/>
              <a:rect l="l" t="t" r="r" b="b"/>
              <a:pathLst>
                <a:path w="1332724" h="175329">
                  <a:moveTo>
                    <a:pt x="78028" y="0"/>
                  </a:moveTo>
                  <a:lnTo>
                    <a:pt x="1254695" y="0"/>
                  </a:lnTo>
                  <a:cubicBezTo>
                    <a:pt x="1297789" y="0"/>
                    <a:pt x="1332724" y="34934"/>
                    <a:pt x="1332724" y="78028"/>
                  </a:cubicBezTo>
                  <a:lnTo>
                    <a:pt x="1332724" y="97300"/>
                  </a:lnTo>
                  <a:cubicBezTo>
                    <a:pt x="1332724" y="117995"/>
                    <a:pt x="1324503" y="137841"/>
                    <a:pt x="1309870" y="152475"/>
                  </a:cubicBezTo>
                  <a:cubicBezTo>
                    <a:pt x="1295236" y="167108"/>
                    <a:pt x="1275390" y="175329"/>
                    <a:pt x="1254695" y="175329"/>
                  </a:cubicBezTo>
                  <a:lnTo>
                    <a:pt x="78028" y="175329"/>
                  </a:lnTo>
                  <a:cubicBezTo>
                    <a:pt x="57334" y="175329"/>
                    <a:pt x="37487" y="167108"/>
                    <a:pt x="22854" y="152475"/>
                  </a:cubicBezTo>
                  <a:cubicBezTo>
                    <a:pt x="8221" y="137841"/>
                    <a:pt x="0" y="117995"/>
                    <a:pt x="0" y="97300"/>
                  </a:cubicBezTo>
                  <a:lnTo>
                    <a:pt x="0" y="78028"/>
                  </a:lnTo>
                  <a:cubicBezTo>
                    <a:pt x="0" y="57334"/>
                    <a:pt x="8221" y="37487"/>
                    <a:pt x="22854" y="22854"/>
                  </a:cubicBezTo>
                  <a:cubicBezTo>
                    <a:pt x="37487" y="8221"/>
                    <a:pt x="57334" y="0"/>
                    <a:pt x="78028" y="0"/>
                  </a:cubicBezTo>
                  <a:close/>
                </a:path>
              </a:pathLst>
            </a:custGeom>
            <a:solidFill>
              <a:srgbClr val="5188CC"/>
            </a:solidFill>
          </p:spPr>
        </p:sp>
        <p:sp>
          <p:nvSpPr>
            <p:cNvPr id="19" name="TextBox 7"/>
            <p:cNvSpPr txBox="1"/>
            <p:nvPr/>
          </p:nvSpPr>
          <p:spPr>
            <a:xfrm>
              <a:off x="0" y="-47625"/>
              <a:ext cx="1332724" cy="222954"/>
            </a:xfrm>
            <a:prstGeom prst="rect">
              <a:avLst/>
            </a:prstGeom>
          </p:spPr>
          <p:txBody>
            <a:bodyPr lIns="50800" tIns="50800" rIns="50800" bIns="50800" rtlCol="0" anchor="ctr"/>
            <a:lstStyle/>
            <a:p>
              <a:pPr algn="ctr">
                <a:lnSpc>
                  <a:spcPts val="2800"/>
                </a:lnSpc>
              </a:pPr>
              <a:endParaRPr>
                <a:latin typeface="Calibri" panose="020F0502020204030204" charset="0"/>
              </a:endParaRPr>
            </a:p>
          </p:txBody>
        </p:sp>
      </p:grpSp>
      <p:sp>
        <p:nvSpPr>
          <p:cNvPr id="24" name="TextBox 28"/>
          <p:cNvSpPr txBox="1"/>
          <p:nvPr>
            <p:custDataLst>
              <p:tags r:id="rId2"/>
            </p:custDataLst>
          </p:nvPr>
        </p:nvSpPr>
        <p:spPr>
          <a:xfrm>
            <a:off x="2231328" y="6050848"/>
            <a:ext cx="6200827" cy="2140651"/>
          </a:xfrm>
          <a:prstGeom prst="rect">
            <a:avLst/>
          </a:prstGeom>
        </p:spPr>
        <p:txBody>
          <a:bodyPr wrap="square" lIns="0" tIns="0" rIns="0" bIns="0" rtlCol="0" anchor="t">
            <a:spAutoFit/>
          </a:bodyPr>
          <a:lstStyle/>
          <a:p>
            <a:pPr algn="just">
              <a:lnSpc>
                <a:spcPct val="150000"/>
              </a:lnSpc>
            </a:pP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Dựa trên cấu trúc mẫu &amp; thống kê.</a:t>
            </a:r>
          </a:p>
          <a:p>
            <a:pPr marL="342900" indent="-342900" algn="just">
              <a:lnSpc>
                <a:spcPct val="150000"/>
              </a:lnSpc>
              <a:buFont typeface="Arial" panose="020B0604020202020204" pitchFamily="34" charset="0"/>
              <a:buChar char="•"/>
            </a:pP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Độ hỗ trợ (Support</a:t>
            </a:r>
            <a:r>
              <a:rPr lang="en-US"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a:t>
            </a:r>
          </a:p>
          <a:p>
            <a:pPr marL="342900" indent="-342900" algn="just">
              <a:lnSpc>
                <a:spcPct val="150000"/>
              </a:lnSpc>
              <a:buFont typeface="Arial" panose="020B0604020202020204" pitchFamily="34" charset="0"/>
              <a:buChar char="•"/>
            </a:pP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Độ tin cậy (Confidence</a:t>
            </a:r>
            <a:r>
              <a:rPr lang="en-US"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a:t>
            </a:r>
          </a:p>
          <a:p>
            <a:pPr marL="342900" indent="-342900" algn="just">
              <a:lnSpc>
                <a:spcPct val="150000"/>
              </a:lnSpc>
              <a:buFont typeface="Arial" panose="020B0604020202020204" pitchFamily="34" charset="0"/>
              <a:buChar char="•"/>
            </a:pPr>
            <a:r>
              <a:rPr lang="en-US" sz="2400" b="1" err="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Ngưỡng</a:t>
            </a:r>
            <a:r>
              <a:rPr lang="en-US"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 (Threshold)</a:t>
            </a:r>
            <a:endPar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endParaRPr>
          </a:p>
        </p:txBody>
      </p:sp>
      <p:sp>
        <p:nvSpPr>
          <p:cNvPr id="25" name="TextBox 29"/>
          <p:cNvSpPr txBox="1"/>
          <p:nvPr>
            <p:custDataLst>
              <p:tags r:id="rId3"/>
            </p:custDataLst>
          </p:nvPr>
        </p:nvSpPr>
        <p:spPr>
          <a:xfrm>
            <a:off x="2595887" y="4648328"/>
            <a:ext cx="4695626" cy="410369"/>
          </a:xfrm>
          <a:prstGeom prst="rect">
            <a:avLst/>
          </a:prstGeom>
        </p:spPr>
        <p:txBody>
          <a:bodyPr wrap="square" lIns="0" tIns="0" rIns="0" bIns="0" rtlCol="0" anchor="t">
            <a:spAutoFit/>
          </a:bodyPr>
          <a:lstStyle/>
          <a:p>
            <a:pPr algn="ctr">
              <a:lnSpc>
                <a:spcPts val="3220"/>
              </a:lnSpc>
            </a:pPr>
            <a:r>
              <a:rPr lang="en-US" sz="2800" b="1" err="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Nén</a:t>
            </a:r>
            <a:r>
              <a:rPr lang="en-US" sz="2800" b="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 </a:t>
            </a:r>
            <a:r>
              <a:rPr lang="en-US" sz="2800" b="1" err="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không</a:t>
            </a:r>
            <a:r>
              <a:rPr lang="en-US" sz="2800" b="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 </a:t>
            </a:r>
            <a:r>
              <a:rPr lang="en-US" sz="2800" b="1" err="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mất</a:t>
            </a:r>
            <a:r>
              <a:rPr lang="en-US" sz="2800" b="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 </a:t>
            </a:r>
            <a:r>
              <a:rPr lang="en-US" sz="2800" b="1" err="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mát</a:t>
            </a:r>
            <a:r>
              <a:rPr lang="en-US" sz="2800" b="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 (Lossless)</a:t>
            </a:r>
          </a:p>
        </p:txBody>
      </p:sp>
      <p:grpSp>
        <p:nvGrpSpPr>
          <p:cNvPr id="26" name="Group 25"/>
          <p:cNvGrpSpPr/>
          <p:nvPr>
            <p:custDataLst>
              <p:tags r:id="rId4"/>
            </p:custDataLst>
          </p:nvPr>
        </p:nvGrpSpPr>
        <p:grpSpPr>
          <a:xfrm>
            <a:off x="9651355" y="5519250"/>
            <a:ext cx="7077547" cy="4120050"/>
            <a:chOff x="0" y="0"/>
            <a:chExt cx="1332724" cy="526264"/>
          </a:xfrm>
        </p:grpSpPr>
        <p:sp>
          <p:nvSpPr>
            <p:cNvPr id="27" name="Freeform 15"/>
            <p:cNvSpPr/>
            <p:nvPr>
              <p:custDataLst>
                <p:tags r:id="rId12"/>
              </p:custDataLst>
            </p:nvPr>
          </p:nvSpPr>
          <p:spPr>
            <a:xfrm>
              <a:off x="0" y="0"/>
              <a:ext cx="1332724" cy="526264"/>
            </a:xfrm>
            <a:custGeom>
              <a:avLst/>
              <a:gdLst/>
              <a:ahLst/>
              <a:cxnLst/>
              <a:rect l="l" t="t" r="r" b="b"/>
              <a:pathLst>
                <a:path w="1332724" h="52626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p:spPr>
        </p:sp>
        <p:sp>
          <p:nvSpPr>
            <p:cNvPr id="28" name="TextBox 27"/>
            <p:cNvSpPr txBox="1"/>
            <p:nvPr/>
          </p:nvSpPr>
          <p:spPr>
            <a:xfrm>
              <a:off x="0" y="-47625"/>
              <a:ext cx="1332724" cy="573889"/>
            </a:xfrm>
            <a:prstGeom prst="rect">
              <a:avLst/>
            </a:prstGeom>
          </p:spPr>
          <p:txBody>
            <a:bodyPr lIns="50800" tIns="50800" rIns="50800" bIns="50800" rtlCol="0" anchor="ctr"/>
            <a:lstStyle/>
            <a:p>
              <a:pPr algn="ctr">
                <a:lnSpc>
                  <a:spcPts val="2800"/>
                </a:lnSpc>
              </a:pPr>
              <a:endParaRPr>
                <a:latin typeface="Calibri" panose="020F0502020204030204" charset="0"/>
              </a:endParaRPr>
            </a:p>
          </p:txBody>
        </p:sp>
      </p:grpSp>
      <p:grpSp>
        <p:nvGrpSpPr>
          <p:cNvPr id="29" name="Group 5"/>
          <p:cNvGrpSpPr/>
          <p:nvPr>
            <p:custDataLst>
              <p:tags r:id="rId5"/>
            </p:custDataLst>
          </p:nvPr>
        </p:nvGrpSpPr>
        <p:grpSpPr>
          <a:xfrm>
            <a:off x="10632903" y="4533900"/>
            <a:ext cx="5060185" cy="665701"/>
            <a:chOff x="0" y="0"/>
            <a:chExt cx="1332724" cy="175329"/>
          </a:xfrm>
        </p:grpSpPr>
        <p:sp>
          <p:nvSpPr>
            <p:cNvPr id="30" name="Freeform 6"/>
            <p:cNvSpPr/>
            <p:nvPr>
              <p:custDataLst>
                <p:tags r:id="rId11"/>
              </p:custDataLst>
            </p:nvPr>
          </p:nvSpPr>
          <p:spPr>
            <a:xfrm>
              <a:off x="0" y="0"/>
              <a:ext cx="1332724" cy="175329"/>
            </a:xfrm>
            <a:custGeom>
              <a:avLst/>
              <a:gdLst/>
              <a:ahLst/>
              <a:cxnLst/>
              <a:rect l="l" t="t" r="r" b="b"/>
              <a:pathLst>
                <a:path w="1332724" h="175329">
                  <a:moveTo>
                    <a:pt x="78028" y="0"/>
                  </a:moveTo>
                  <a:lnTo>
                    <a:pt x="1254695" y="0"/>
                  </a:lnTo>
                  <a:cubicBezTo>
                    <a:pt x="1297789" y="0"/>
                    <a:pt x="1332724" y="34934"/>
                    <a:pt x="1332724" y="78028"/>
                  </a:cubicBezTo>
                  <a:lnTo>
                    <a:pt x="1332724" y="97300"/>
                  </a:lnTo>
                  <a:cubicBezTo>
                    <a:pt x="1332724" y="117995"/>
                    <a:pt x="1324503" y="137841"/>
                    <a:pt x="1309870" y="152475"/>
                  </a:cubicBezTo>
                  <a:cubicBezTo>
                    <a:pt x="1295236" y="167108"/>
                    <a:pt x="1275390" y="175329"/>
                    <a:pt x="1254695" y="175329"/>
                  </a:cubicBezTo>
                  <a:lnTo>
                    <a:pt x="78028" y="175329"/>
                  </a:lnTo>
                  <a:cubicBezTo>
                    <a:pt x="57334" y="175329"/>
                    <a:pt x="37487" y="167108"/>
                    <a:pt x="22854" y="152475"/>
                  </a:cubicBezTo>
                  <a:cubicBezTo>
                    <a:pt x="8221" y="137841"/>
                    <a:pt x="0" y="117995"/>
                    <a:pt x="0" y="97300"/>
                  </a:cubicBezTo>
                  <a:lnTo>
                    <a:pt x="0" y="78028"/>
                  </a:lnTo>
                  <a:cubicBezTo>
                    <a:pt x="0" y="57334"/>
                    <a:pt x="8221" y="37487"/>
                    <a:pt x="22854" y="22854"/>
                  </a:cubicBezTo>
                  <a:cubicBezTo>
                    <a:pt x="37487" y="8221"/>
                    <a:pt x="57334" y="0"/>
                    <a:pt x="78028" y="0"/>
                  </a:cubicBezTo>
                  <a:close/>
                </a:path>
              </a:pathLst>
            </a:custGeom>
            <a:solidFill>
              <a:srgbClr val="5188CC"/>
            </a:solidFill>
          </p:spPr>
        </p:sp>
        <p:sp>
          <p:nvSpPr>
            <p:cNvPr id="31" name="TextBox 7"/>
            <p:cNvSpPr txBox="1"/>
            <p:nvPr/>
          </p:nvSpPr>
          <p:spPr>
            <a:xfrm>
              <a:off x="0" y="-47625"/>
              <a:ext cx="1332724" cy="222954"/>
            </a:xfrm>
            <a:prstGeom prst="rect">
              <a:avLst/>
            </a:prstGeom>
          </p:spPr>
          <p:txBody>
            <a:bodyPr lIns="50800" tIns="50800" rIns="50800" bIns="50800" rtlCol="0" anchor="ctr"/>
            <a:lstStyle/>
            <a:p>
              <a:pPr algn="ctr">
                <a:lnSpc>
                  <a:spcPts val="2800"/>
                </a:lnSpc>
              </a:pPr>
              <a:endParaRPr>
                <a:latin typeface="Calibri" panose="020F0502020204030204" charset="0"/>
              </a:endParaRPr>
            </a:p>
          </p:txBody>
        </p:sp>
      </p:grpSp>
      <p:sp>
        <p:nvSpPr>
          <p:cNvPr id="32" name="TextBox 28"/>
          <p:cNvSpPr txBox="1"/>
          <p:nvPr>
            <p:custDataLst>
              <p:tags r:id="rId6"/>
            </p:custDataLst>
          </p:nvPr>
        </p:nvSpPr>
        <p:spPr>
          <a:xfrm>
            <a:off x="10062581" y="5680005"/>
            <a:ext cx="6200827" cy="3820726"/>
          </a:xfrm>
          <a:prstGeom prst="rect">
            <a:avLst/>
          </a:prstGeom>
        </p:spPr>
        <p:txBody>
          <a:bodyPr wrap="square" lIns="0" tIns="0" rIns="0" bIns="0" rtlCol="0" anchor="t">
            <a:spAutoFit/>
          </a:bodyPr>
          <a:lstStyle/>
          <a:p>
            <a:pPr marL="342900" indent="-342900" algn="just">
              <a:lnSpc>
                <a:spcPct val="150000"/>
              </a:lnSpc>
              <a:buFont typeface="Arial" panose="020B0604020202020204" pitchFamily="34" charset="0"/>
              <a:buChar char="•"/>
            </a:pP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Chỉ có thể tái tạo lại một phiên bản xấp xỉ của dữ liệu gốc.</a:t>
            </a:r>
          </a:p>
          <a:p>
            <a:pPr marL="342900" indent="-342900" algn="just">
              <a:lnSpc>
                <a:spcPct val="150000"/>
              </a:lnSpc>
              <a:buFont typeface="Arial" panose="020B0604020202020204" pitchFamily="34" charset="0"/>
              <a:buChar char="•"/>
            </a:pP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Một số chi tiết nhỏ, không quan trọng sẽ bị loại bỏ để đạt được độ nén cao hơn</a:t>
            </a:r>
          </a:p>
          <a:p>
            <a:pPr marL="342900" indent="-342900" algn="just">
              <a:lnSpc>
                <a:spcPct val="150000"/>
              </a:lnSpc>
              <a:buFont typeface="Arial" panose="020B0604020202020204" pitchFamily="34" charset="0"/>
              <a:buChar char="•"/>
            </a:pP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Tương tự như: Nén ảnh JPEG. Ảnh sau khi nén có dung lượng nhỏ hơn nhiều nhưng có thể mất đi một vài chi tiết nếu bạn phóng to</a:t>
            </a:r>
          </a:p>
        </p:txBody>
      </p:sp>
      <p:sp>
        <p:nvSpPr>
          <p:cNvPr id="33" name="TextBox 29"/>
          <p:cNvSpPr txBox="1"/>
          <p:nvPr>
            <p:custDataLst>
              <p:tags r:id="rId7"/>
            </p:custDataLst>
          </p:nvPr>
        </p:nvSpPr>
        <p:spPr>
          <a:xfrm>
            <a:off x="10997462" y="4648328"/>
            <a:ext cx="4331066" cy="410369"/>
          </a:xfrm>
          <a:prstGeom prst="rect">
            <a:avLst/>
          </a:prstGeom>
        </p:spPr>
        <p:txBody>
          <a:bodyPr lIns="0" tIns="0" rIns="0" bIns="0" rtlCol="0" anchor="t">
            <a:spAutoFit/>
          </a:bodyPr>
          <a:lstStyle/>
          <a:p>
            <a:pPr algn="ctr">
              <a:lnSpc>
                <a:spcPts val="3220"/>
              </a:lnSpc>
            </a:pPr>
            <a:r>
              <a:rPr lang="en-US" sz="2800" b="1" err="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Nén</a:t>
            </a:r>
            <a:r>
              <a:rPr lang="en-US" sz="2800" b="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 </a:t>
            </a:r>
            <a:r>
              <a:rPr lang="en-US" sz="2800" b="1" err="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mất</a:t>
            </a:r>
            <a:r>
              <a:rPr lang="en-US" sz="2800" b="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 </a:t>
            </a:r>
            <a:r>
              <a:rPr lang="en-US" sz="2800" b="1" err="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mát</a:t>
            </a:r>
            <a:r>
              <a:rPr lang="en-US" sz="2800" b="1">
                <a:solidFill>
                  <a:srgbClr val="FFFFFF"/>
                </a:solidFill>
                <a:latin typeface="Calibri" panose="020F0502020204030204" charset="0"/>
                <a:ea typeface="Segoe Print" panose="02000600000000000000" charset="0"/>
                <a:cs typeface="Segoe Print" panose="02000600000000000000" charset="0"/>
                <a:sym typeface="Segoe Print" panose="02000600000000000000" charset="0"/>
              </a:rPr>
              <a:t> (Lossy)</a:t>
            </a:r>
          </a:p>
        </p:txBody>
      </p:sp>
      <p:grpSp>
        <p:nvGrpSpPr>
          <p:cNvPr id="37" name="Group 36"/>
          <p:cNvGrpSpPr/>
          <p:nvPr>
            <p:custDataLst>
              <p:tags r:id="rId8"/>
            </p:custDataLst>
          </p:nvPr>
        </p:nvGrpSpPr>
        <p:grpSpPr>
          <a:xfrm>
            <a:off x="1404926" y="5519250"/>
            <a:ext cx="7077547" cy="4120050"/>
            <a:chOff x="0" y="0"/>
            <a:chExt cx="1332724" cy="526264"/>
          </a:xfrm>
        </p:grpSpPr>
        <p:sp>
          <p:nvSpPr>
            <p:cNvPr id="38" name="Freeform 15"/>
            <p:cNvSpPr/>
            <p:nvPr>
              <p:custDataLst>
                <p:tags r:id="rId10"/>
              </p:custDataLst>
            </p:nvPr>
          </p:nvSpPr>
          <p:spPr>
            <a:xfrm>
              <a:off x="0" y="0"/>
              <a:ext cx="1332724" cy="526264"/>
            </a:xfrm>
            <a:custGeom>
              <a:avLst/>
              <a:gdLst/>
              <a:ahLst/>
              <a:cxnLst/>
              <a:rect l="l" t="t" r="r" b="b"/>
              <a:pathLst>
                <a:path w="1332724" h="52626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p:spPr>
        </p:sp>
        <p:sp>
          <p:nvSpPr>
            <p:cNvPr id="39" name="TextBox 38"/>
            <p:cNvSpPr txBox="1"/>
            <p:nvPr/>
          </p:nvSpPr>
          <p:spPr>
            <a:xfrm>
              <a:off x="0" y="-47625"/>
              <a:ext cx="1332724" cy="573889"/>
            </a:xfrm>
            <a:prstGeom prst="rect">
              <a:avLst/>
            </a:prstGeom>
          </p:spPr>
          <p:txBody>
            <a:bodyPr lIns="50800" tIns="50800" rIns="50800" bIns="50800" rtlCol="0" anchor="ctr"/>
            <a:lstStyle/>
            <a:p>
              <a:pPr algn="ctr">
                <a:lnSpc>
                  <a:spcPts val="2800"/>
                </a:lnSpc>
              </a:pPr>
              <a:endParaRPr>
                <a:latin typeface="Calibri" panose="020F0502020204030204" charset="0"/>
              </a:endParaRPr>
            </a:p>
          </p:txBody>
        </p:sp>
      </p:grpSp>
      <p:sp>
        <p:nvSpPr>
          <p:cNvPr id="40" name="TextBox 28"/>
          <p:cNvSpPr txBox="1"/>
          <p:nvPr>
            <p:custDataLst>
              <p:tags r:id="rId9"/>
            </p:custDataLst>
          </p:nvPr>
        </p:nvSpPr>
        <p:spPr>
          <a:xfrm>
            <a:off x="1787150" y="5680005"/>
            <a:ext cx="6200827" cy="3266728"/>
          </a:xfrm>
          <a:prstGeom prst="rect">
            <a:avLst/>
          </a:prstGeom>
        </p:spPr>
        <p:txBody>
          <a:bodyPr wrap="square" lIns="0" tIns="0" rIns="0" bIns="0" rtlCol="0" anchor="t">
            <a:spAutoFit/>
          </a:bodyPr>
          <a:lstStyle/>
          <a:p>
            <a:pPr marL="342900" indent="-342900" algn="just">
              <a:lnSpc>
                <a:spcPct val="150000"/>
              </a:lnSpc>
              <a:buFont typeface="Arial" panose="020B0604020202020204" pitchFamily="34" charset="0"/>
              <a:buChar char="•"/>
            </a:pP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Dữ liệu gốc có thể được tái tạo lại một cách hoàn hảo từ dữ liệu đã nén mà không mất thông tin</a:t>
            </a:r>
          </a:p>
          <a:p>
            <a:pPr marL="342900" indent="-342900" algn="just">
              <a:lnSpc>
                <a:spcPct val="150000"/>
              </a:lnSpc>
              <a:buFont typeface="Arial" panose="020B0604020202020204" pitchFamily="34" charset="0"/>
              <a:buChar char="•"/>
            </a:pP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Tương tự như: Nén </a:t>
            </a:r>
            <a:r>
              <a:rPr lang="vi-VN" sz="2400" b="1" err="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file</a:t>
            </a: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 ZIP. Khi bạn giải nén, mọi </a:t>
            </a:r>
            <a:r>
              <a:rPr lang="vi-VN" sz="2400" b="1" err="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file</a:t>
            </a:r>
            <a:r>
              <a:rPr lang="vi-VN" sz="2400" b="1">
                <a:solidFill>
                  <a:schemeClr val="bg1"/>
                </a:solidFill>
                <a:latin typeface="Calibri" panose="020F0502020204030204" charset="0"/>
                <a:ea typeface="Segoe Print" panose="02000600000000000000" charset="0"/>
                <a:cs typeface="Segoe Print" panose="02000600000000000000" charset="0"/>
                <a:sym typeface="Segoe Print" panose="02000600000000000000" charset="0"/>
              </a:rPr>
              <a:t> và nội dung bên trong đều y hệt bản gốc</a:t>
            </a: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3. NÉN DỮ LIỆU (</a:t>
            </a:r>
            <a:r>
              <a:rPr lang="it-IT"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DATA C</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OMPRESSION)</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28700" y="2324100"/>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de-DE"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So sánh DWT và DFT </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9" name="TextBox 24"/>
          <p:cNvSpPr txBox="1"/>
          <p:nvPr/>
        </p:nvSpPr>
        <p:spPr>
          <a:xfrm>
            <a:off x="1912641" y="3518931"/>
            <a:ext cx="9517359" cy="2101024"/>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DFT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Discrete</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Fourier</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Transform</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Biểu diễn dữ liệu bằng sin và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cos</a:t>
            </a: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Tốt cho phân tích tần số nhưng không bảo toàn chi tiết cục bộ</a:t>
            </a:r>
          </a:p>
        </p:txBody>
      </p:sp>
      <p:sp>
        <p:nvSpPr>
          <p:cNvPr id="10" name="TextBox 24"/>
          <p:cNvSpPr txBox="1"/>
          <p:nvPr/>
        </p:nvSpPr>
        <p:spPr>
          <a:xfrm>
            <a:off x="1935355" y="6438900"/>
            <a:ext cx="14816261" cy="2839688"/>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DWT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Discrete</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Wavelet</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Transform</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Bảo toàn được chi tiết cục bộ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local</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features</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Nén tốt hơn vì cùng một số lượng hệ số giữ lại, DWT cho kết quả gần gốc hơn so với DFT</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Với cùng mức chính xác, DWT cần ít không gian lưu trữ hơn</a:t>
            </a:r>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3. NÉN DỮ LIỆU (</a:t>
            </a:r>
            <a:r>
              <a:rPr lang="it-IT"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DATA C</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OMPRESSION)</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28700" y="2143125"/>
            <a:ext cx="9563100" cy="847090"/>
            <a:chOff x="1592" y="3048"/>
            <a:chExt cx="9139" cy="1334"/>
          </a:xfrm>
        </p:grpSpPr>
        <p:grpSp>
          <p:nvGrpSpPr>
            <p:cNvPr id="4" name="Group 3"/>
            <p:cNvGrpSpPr/>
            <p:nvPr/>
          </p:nvGrpSpPr>
          <p:grpSpPr>
            <a:xfrm>
              <a:off x="2648" y="3048"/>
              <a:ext cx="8083" cy="1334"/>
              <a:chOff x="-56541" y="-47625"/>
              <a:chExt cx="1351756" cy="223162"/>
            </a:xfrm>
          </p:grpSpPr>
          <p:sp>
            <p:nvSpPr>
              <p:cNvPr id="7" name="Freeform 9"/>
              <p:cNvSpPr/>
              <p:nvPr/>
            </p:nvSpPr>
            <p:spPr>
              <a:xfrm>
                <a:off x="-56541" y="208"/>
                <a:ext cx="1250412"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619"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2680" y="3526"/>
              <a:ext cx="7477" cy="570"/>
            </a:xfrm>
            <a:prstGeom prst="rect">
              <a:avLst/>
            </a:prstGeom>
          </p:spPr>
          <p:txBody>
            <a:bodyPr wrap="square" lIns="0" tIns="0" rIns="0" bIns="0" rtlCol="0" anchor="t">
              <a:spAutoFit/>
            </a:bodyPr>
            <a:lstStyle/>
            <a:p>
              <a:pPr algn="ctr">
                <a:lnSpc>
                  <a:spcPts val="3080"/>
                </a:lnSpc>
              </a:pPr>
              <a:r>
                <a:rPr lang="de-DE"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Thuật toán DWT rời rạc (Hierarchical Pyramid Algorithm)</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9" name="TextBox 24"/>
          <p:cNvSpPr txBox="1"/>
          <p:nvPr/>
        </p:nvSpPr>
        <p:spPr>
          <a:xfrm>
            <a:off x="2097478" y="3111388"/>
            <a:ext cx="15835713" cy="623697"/>
          </a:xfrm>
          <a:prstGeom prst="rect">
            <a:avLst/>
          </a:prstGeom>
        </p:spPr>
        <p:txBody>
          <a:bodyPr wrap="square" lIns="0" tIns="0" rIns="0" bIns="0" rtlCol="0" anchor="t">
            <a:spAutoFit/>
          </a:bodyPr>
          <a:lstStyle/>
          <a:p>
            <a:pPr algn="just">
              <a:lnSpc>
                <a:spcPct val="200000"/>
              </a:lnSpc>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Thuật toán DWT hoạt động theo kiểu phân cấp kim tự tháp, giúp tính toán rất nhanh với độ phức tạp O(n)</a:t>
            </a:r>
          </a:p>
        </p:txBody>
      </p:sp>
      <p:sp>
        <p:nvSpPr>
          <p:cNvPr id="10" name="TextBox 24"/>
          <p:cNvSpPr txBox="1"/>
          <p:nvPr/>
        </p:nvSpPr>
        <p:spPr>
          <a:xfrm>
            <a:off x="2167189" y="4229100"/>
            <a:ext cx="15107483" cy="5055679"/>
          </a:xfrm>
          <a:prstGeom prst="rect">
            <a:avLst/>
          </a:prstGeom>
        </p:spPr>
        <p:txBody>
          <a:bodyPr wrap="square" lIns="0" tIns="0" rIns="0" bIns="0" rtlCol="0" anchor="t">
            <a:spAutoFit/>
          </a:bodyPr>
          <a:lstStyle/>
          <a:p>
            <a:pPr marL="457200" indent="-457200" algn="just">
              <a:lnSpc>
                <a:spcPct val="200000"/>
              </a:lnSpc>
              <a:buFont typeface="+mj-lt"/>
              <a:buAutoNum type="arabicPeriod"/>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Đầu vào: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Một véc-tơ dữ liệu có độ dài L (phải là lũy thừa của 2, nếu không sẽ được đệm thêm số 0)</a:t>
            </a:r>
          </a:p>
          <a:p>
            <a:pPr marL="457200" indent="-457200" algn="just">
              <a:lnSpc>
                <a:spcPct val="200000"/>
              </a:lnSpc>
              <a:buFont typeface="+mj-lt"/>
              <a:buAutoNum type="arabicPeriod"/>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Phân tách: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Với mỗi cặp phần tử, thuật toán sẽ áp dụng hai bộ lọc:</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Bộ lọc thông thấp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Low-pass</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filter</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Giữ lại các đặc trưng tổng quát, "mượt" của dữ liệu (thành phần xấp xỉ)</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Bộ lọc thông cao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High-pass</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filter</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Giữ lại các chi tiết, các biến động nhanh (thành phần chi tiết)</a:t>
            </a: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3.  Kết quả: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Tạo ra hai véc-tơ mới, mỗi véc-tơ có độ dài L/2</a:t>
            </a: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4.  Lặp lại: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Quá trình này được lặp lại trên véc-tơ "mượt" cho đến khi chỉ còn lại hai phần tử. Các hệ số cuối cùng thu được chính là </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hệ số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wavelet</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wavelet</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coefficients</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3. NÉN DỮ LIỆU (</a:t>
            </a:r>
            <a:r>
              <a:rPr lang="it-IT"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DATA C</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OMPRESSION)</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28700" y="2143125"/>
            <a:ext cx="9563100" cy="847090"/>
            <a:chOff x="1592" y="3048"/>
            <a:chExt cx="9139" cy="1334"/>
          </a:xfrm>
        </p:grpSpPr>
        <p:grpSp>
          <p:nvGrpSpPr>
            <p:cNvPr id="4" name="Group 3"/>
            <p:cNvGrpSpPr/>
            <p:nvPr/>
          </p:nvGrpSpPr>
          <p:grpSpPr>
            <a:xfrm>
              <a:off x="2648" y="3048"/>
              <a:ext cx="8083" cy="1334"/>
              <a:chOff x="-56541" y="-47625"/>
              <a:chExt cx="1351756" cy="223162"/>
            </a:xfrm>
          </p:grpSpPr>
          <p:sp>
            <p:nvSpPr>
              <p:cNvPr id="7" name="Freeform 9"/>
              <p:cNvSpPr/>
              <p:nvPr/>
            </p:nvSpPr>
            <p:spPr>
              <a:xfrm>
                <a:off x="-56541" y="208"/>
                <a:ext cx="1250412"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619"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2680" y="3526"/>
              <a:ext cx="7477" cy="570"/>
            </a:xfrm>
            <a:prstGeom prst="rect">
              <a:avLst/>
            </a:prstGeom>
          </p:spPr>
          <p:txBody>
            <a:bodyPr wrap="square" lIns="0" tIns="0" rIns="0" bIns="0" rtlCol="0" anchor="t">
              <a:spAutoFit/>
            </a:bodyPr>
            <a:lstStyle/>
            <a:p>
              <a:pPr algn="ctr">
                <a:lnSpc>
                  <a:spcPts val="3080"/>
                </a:lnSpc>
              </a:pPr>
              <a:r>
                <a:rPr lang="de-DE"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Thuật toán DWT rời rạc (Hierarchical Pyramid Algorithm)</a:t>
              </a:r>
              <a:endPar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sp>
        <p:nvSpPr>
          <p:cNvPr id="10" name="TextBox 24"/>
          <p:cNvSpPr txBox="1"/>
          <p:nvPr/>
        </p:nvSpPr>
        <p:spPr>
          <a:xfrm>
            <a:off x="1143000" y="3587782"/>
            <a:ext cx="12039599" cy="5794343"/>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Sơ đồ minh họa cho DWT:</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Tín hiệu gốc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(Hàng đầu): Dữ liệu ban đầu.</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Thành phần xấp xỉ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(Màu xanh lá): </a:t>
            </a: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Kết quả từ bộ lọc thông thấp, thể hiện xu hướng chung.</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Thành phần chi tiết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(Màu đỏ): </a:t>
            </a: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Kết quả từ bộ lọc thông cao, thể hiện các thay đổi đột ngột.</a:t>
            </a:r>
          </a:p>
          <a:p>
            <a:pPr algn="just">
              <a:lnSpc>
                <a:spcPct val="200000"/>
              </a:lnSpc>
            </a:pP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Bằng cách chỉ lưu lại các hệ số quan trọng, ta có thể nén dữ liệu một cách hiệu quả.</a:t>
            </a:r>
          </a:p>
        </p:txBody>
      </p: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10006" y="3586992"/>
            <a:ext cx="8077993" cy="4772230"/>
          </a:xfrm>
          <a:prstGeom prst="rect">
            <a:avLst/>
          </a:prstGeom>
          <a:noFill/>
          <a:ln>
            <a:noFill/>
          </a:ln>
        </p:spPr>
      </p:pic>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3. NÉN DỮ LIỆU (</a:t>
            </a:r>
            <a:r>
              <a:rPr lang="it-IT"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DATA C</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OMPRESSION)</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28700" y="2324100"/>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ỨNG DỤNG CỦA DWT</a:t>
              </a:r>
            </a:p>
          </p:txBody>
        </p:sp>
      </p:grpSp>
      <p:sp>
        <p:nvSpPr>
          <p:cNvPr id="9" name="TextBox 24"/>
          <p:cNvSpPr txBox="1"/>
          <p:nvPr/>
        </p:nvSpPr>
        <p:spPr>
          <a:xfrm>
            <a:off x="1912641" y="3518931"/>
            <a:ext cx="12260559" cy="5794343"/>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Nén dữ liệu đa chiều:</a:t>
            </a:r>
          </a:p>
          <a:p>
            <a:pPr marL="800100" lvl="1"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Nén ảnh y tế, ảnh vân tay, và trong các hệ thống thị giác máy tính</a:t>
            </a:r>
          </a:p>
          <a:p>
            <a:pPr marL="800100" lvl="1"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Chuẩn nén ảnh hiện đại JPEG 2000 sử dụng DWT thay vì DCT (dùng trong JPEG cũ)</a:t>
            </a:r>
          </a:p>
          <a:p>
            <a:pPr marL="342900" indent="-342900" algn="just">
              <a:lnSpc>
                <a:spcPct val="20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Làm sạch dữ liệu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Denoising</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t>
            </a:r>
          </a:p>
          <a:p>
            <a:pPr lvl="1" algn="just">
              <a:lnSpc>
                <a:spcPct val="200000"/>
              </a:lnSpc>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Nhiễu thường tương ứng với các hệ số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wavelet</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có giá trị nhỏ. Bằng cách loại bỏ chúng và chỉ giữ lại các hệ số lớn, ta có thể khôi phục tín hiệu gốc mà không còn nhiễu</a:t>
            </a:r>
          </a:p>
          <a:p>
            <a:pPr marL="342900" indent="-342900" algn="just">
              <a:lnSpc>
                <a:spcPct val="200000"/>
              </a:lnSpc>
              <a:buFont typeface="Wingdings" panose="05000000000000000000" pitchFamily="2" charset="2"/>
              <a:buChar char="v"/>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Nén chuỗi thời gian:</a:t>
            </a:r>
          </a:p>
          <a:p>
            <a:pPr lvl="1" algn="just">
              <a:lnSpc>
                <a:spcPct val="200000"/>
              </a:lnSpc>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Phân tích tín hiệu tài chính, dữ liệu từ cảm biến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IoT</a:t>
            </a: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pic>
        <p:nvPicPr>
          <p:cNvPr id="11" name="Picture 10">
            <a:extLst>
              <a:ext uri="{FF2B5EF4-FFF2-40B4-BE49-F238E27FC236}">
                <a16:creationId xmlns:a16="http://schemas.microsoft.com/office/drawing/2014/main" id="{E24E359F-47DC-0194-8026-C552AD8510FC}"/>
              </a:ext>
            </a:extLst>
          </p:cNvPr>
          <p:cNvPicPr>
            <a:picLocks noChangeAspect="1"/>
          </p:cNvPicPr>
          <p:nvPr/>
        </p:nvPicPr>
        <p:blipFill>
          <a:blip r:embed="rId4"/>
          <a:stretch>
            <a:fillRect/>
          </a:stretch>
        </p:blipFill>
        <p:spPr>
          <a:xfrm>
            <a:off x="14296512" y="5621276"/>
            <a:ext cx="4157693" cy="4700622"/>
          </a:xfrm>
          <a:prstGeom prst="rect">
            <a:avLst/>
          </a:prstGeom>
        </p:spPr>
      </p:pic>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4. LẤY MẪU (</a:t>
            </a:r>
            <a:r>
              <a:rPr lang="vi-VN" altLang="en-US"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SAMPLING</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1028700" y="2628900"/>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KHÁI NIỆM</a:t>
              </a:r>
            </a:p>
          </p:txBody>
        </p:sp>
      </p:grpSp>
      <p:sp>
        <p:nvSpPr>
          <p:cNvPr id="9" name="TextBox 24"/>
          <p:cNvSpPr txBox="1"/>
          <p:nvPr/>
        </p:nvSpPr>
        <p:spPr>
          <a:xfrm>
            <a:off x="1913890" y="3486827"/>
            <a:ext cx="8677909" cy="1362361"/>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Lấy mẫu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sampling</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là kỹ thuật giảm dữ liệu bằng cách chọn một tập con (</a:t>
            </a:r>
            <a:r>
              <a:rPr lang="vi-VN" altLang="en-US" sz="2400" b="1"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sample</a:t>
            </a: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đại diện cho toàn bộ tập dữ liệu lớn</a:t>
            </a: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grpSp>
        <p:nvGrpSpPr>
          <p:cNvPr id="10" name="Group 9"/>
          <p:cNvGrpSpPr/>
          <p:nvPr/>
        </p:nvGrpSpPr>
        <p:grpSpPr>
          <a:xfrm>
            <a:off x="1064926" y="6047412"/>
            <a:ext cx="5803265" cy="665480"/>
            <a:chOff x="1592" y="3333"/>
            <a:chExt cx="9139" cy="1048"/>
          </a:xfrm>
        </p:grpSpPr>
        <p:grpSp>
          <p:nvGrpSpPr>
            <p:cNvPr id="11" name="Group 10"/>
            <p:cNvGrpSpPr/>
            <p:nvPr/>
          </p:nvGrpSpPr>
          <p:grpSpPr>
            <a:xfrm>
              <a:off x="2986" y="3333"/>
              <a:ext cx="7745" cy="1048"/>
              <a:chOff x="0" y="0"/>
              <a:chExt cx="1295215" cy="175329"/>
            </a:xfrm>
          </p:grpSpPr>
          <p:sp>
            <p:nvSpPr>
              <p:cNvPr id="14"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15"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12"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13"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LÝ DO CẦN LẤY MẪU</a:t>
              </a:r>
            </a:p>
          </p:txBody>
        </p:sp>
      </p:grpSp>
      <p:sp>
        <p:nvSpPr>
          <p:cNvPr id="16" name="TextBox 24"/>
          <p:cNvSpPr txBox="1"/>
          <p:nvPr/>
        </p:nvSpPr>
        <p:spPr>
          <a:xfrm>
            <a:off x="1950116" y="6905339"/>
            <a:ext cx="14356684" cy="2101216"/>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Xử lý tập dữ liệu rất lớn tốn nhiều tài nguyên</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Một mẫu nhỏ nhưng đủ đại diện vẫn cho kết quả phân tích chính xác gần đúng</a:t>
            </a:r>
          </a:p>
          <a:p>
            <a:pPr marL="342900" indent="-342900" algn="just">
              <a:lnSpc>
                <a:spcPct val="200000"/>
              </a:lnSpc>
              <a:buFont typeface="Arial" panose="020B0604020202020204" pitchFamily="34" charset="0"/>
              <a:buChar char="•"/>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Độ phức tạp xử lý giảm từ O(N) (toàn bộ tập dữ liệu) xuống O(s) (kích thước mẫu, s ≪ N)</a:t>
            </a:r>
          </a:p>
        </p:txBody>
      </p:sp>
      <p:pic>
        <p:nvPicPr>
          <p:cNvPr id="20" name="Picture 19"/>
          <p:cNvPicPr>
            <a:picLocks noChangeAspect="1"/>
          </p:cNvPicPr>
          <p:nvPr/>
        </p:nvPicPr>
        <p:blipFill>
          <a:blip r:embed="rId4"/>
          <a:stretch>
            <a:fillRect/>
          </a:stretch>
        </p:blipFill>
        <p:spPr>
          <a:xfrm>
            <a:off x="10905036" y="2367416"/>
            <a:ext cx="7391708" cy="4014610"/>
          </a:xfrm>
          <a:prstGeom prst="rect">
            <a:avLst/>
          </a:prstGeom>
        </p:spPr>
      </p:pic>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4. LẤY MẪU (</a:t>
            </a:r>
            <a:r>
              <a:rPr lang="vi-VN" altLang="en-US"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SAMPLING</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868180" y="2773722"/>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PHƯƠNG PHÁP LẤY MẪU</a:t>
              </a:r>
            </a:p>
          </p:txBody>
        </p:sp>
      </p:grpSp>
      <p:sp>
        <p:nvSpPr>
          <p:cNvPr id="9" name="TextBox 24"/>
          <p:cNvSpPr txBox="1"/>
          <p:nvPr/>
        </p:nvSpPr>
        <p:spPr>
          <a:xfrm>
            <a:off x="1719642" y="4183019"/>
            <a:ext cx="9592309" cy="623697"/>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SIMPLE RANDOM SAMPLE WITHOUT REPLACEMENT (SRSWOR)</a:t>
            </a: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sp>
        <p:nvSpPr>
          <p:cNvPr id="17" name="TextBox 24"/>
          <p:cNvSpPr txBox="1"/>
          <p:nvPr/>
        </p:nvSpPr>
        <p:spPr>
          <a:xfrm>
            <a:off x="1719642" y="5354573"/>
            <a:ext cx="8296910" cy="2839688"/>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Lấy mẫu ngẫu nhiên đơn giản không hoàn lại → mỗi phần tử chỉ được chọn một lần.</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Ví dụ: Chọn ngẫu nhiên 5 học sinh trong 15 học sinh theo số thứ tự trong danh sách.</a:t>
            </a:r>
          </a:p>
        </p:txBody>
      </p:sp>
      <p:pic>
        <p:nvPicPr>
          <p:cNvPr id="19" name="Picture 18"/>
          <p:cNvPicPr>
            <a:picLocks noChangeAspect="1"/>
          </p:cNvPicPr>
          <p:nvPr/>
        </p:nvPicPr>
        <p:blipFill>
          <a:blip r:embed="rId4"/>
          <a:stretch>
            <a:fillRect/>
          </a:stretch>
        </p:blipFill>
        <p:spPr>
          <a:xfrm>
            <a:off x="11568573" y="3924300"/>
            <a:ext cx="6666721" cy="4191000"/>
          </a:xfrm>
          <a:prstGeom prst="rect">
            <a:avLst/>
          </a:prstGeom>
        </p:spPr>
      </p:pic>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4. LẤY MẪU (</a:t>
            </a:r>
            <a:r>
              <a:rPr lang="vi-VN" altLang="en-US"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SAMPLING</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868180" y="2773722"/>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PHƯƠNG PHÁP LẤY MẪU</a:t>
              </a:r>
            </a:p>
          </p:txBody>
        </p:sp>
      </p:grpSp>
      <p:sp>
        <p:nvSpPr>
          <p:cNvPr id="9" name="TextBox 24"/>
          <p:cNvSpPr txBox="1"/>
          <p:nvPr/>
        </p:nvSpPr>
        <p:spPr>
          <a:xfrm>
            <a:off x="1719642" y="4183019"/>
            <a:ext cx="9592309" cy="646331"/>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SIMPLE RANDOM SAMPLE WITH REPLACEMENT (SRSWR)</a:t>
            </a: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sp>
        <p:nvSpPr>
          <p:cNvPr id="17" name="TextBox 24"/>
          <p:cNvSpPr txBox="1"/>
          <p:nvPr/>
        </p:nvSpPr>
        <p:spPr>
          <a:xfrm>
            <a:off x="1719642" y="5354573"/>
            <a:ext cx="8296910" cy="3578352"/>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Lấy mẫu ngẫu nhiên đơn giản có hoàn lại → một phần tử có thể xuất hiện nhiều lần trong mẫu.</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Ví dụ: Chọn ngẫu nhiên 5 học sinh trong 15 học sinh theo số thứ tự trong danh sách nhưng 1 học sinh có thể bị chọn lại nhiều lần.</a:t>
            </a:r>
          </a:p>
        </p:txBody>
      </p:sp>
      <p:pic>
        <p:nvPicPr>
          <p:cNvPr id="15" name="Picture 14"/>
          <p:cNvPicPr>
            <a:picLocks noChangeAspect="1"/>
          </p:cNvPicPr>
          <p:nvPr/>
        </p:nvPicPr>
        <p:blipFill>
          <a:blip r:embed="rId4"/>
          <a:stretch>
            <a:fillRect/>
          </a:stretch>
        </p:blipFill>
        <p:spPr>
          <a:xfrm>
            <a:off x="11421282" y="4183019"/>
            <a:ext cx="6866718" cy="4495799"/>
          </a:xfrm>
          <a:prstGeom prst="rect">
            <a:avLst/>
          </a:prstGeom>
        </p:spPr>
      </p:pic>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4. LẤY MẪU (</a:t>
            </a:r>
            <a:r>
              <a:rPr lang="vi-VN" altLang="en-US"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SAMPLING</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868180" y="2773722"/>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PHƯƠNG PHÁP LẤY MẪU</a:t>
              </a:r>
            </a:p>
          </p:txBody>
        </p:sp>
      </p:grpSp>
      <p:sp>
        <p:nvSpPr>
          <p:cNvPr id="9" name="TextBox 24"/>
          <p:cNvSpPr txBox="1"/>
          <p:nvPr/>
        </p:nvSpPr>
        <p:spPr>
          <a:xfrm>
            <a:off x="1719642" y="4183019"/>
            <a:ext cx="9592309" cy="646331"/>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CLUSTER SAMPLING (LẤY MẪU THEO CỤM)</a:t>
            </a: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sp>
        <p:nvSpPr>
          <p:cNvPr id="17" name="TextBox 24"/>
          <p:cNvSpPr txBox="1"/>
          <p:nvPr/>
        </p:nvSpPr>
        <p:spPr>
          <a:xfrm>
            <a:off x="1719642" y="5277352"/>
            <a:ext cx="9786558" cy="2101024"/>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Chia dữ liệu thành các cụm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clusters</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 chọn ngẫu nhiên một số cụm rồi dùng toàn bộ dữ liệu trong các cụm đó.</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Ưu điểm: xử lý nhanh hơn khi dữ liệu vốn được lưu trữ theo cụm.</a:t>
            </a:r>
          </a:p>
        </p:txBody>
      </p:sp>
      <p:pic>
        <p:nvPicPr>
          <p:cNvPr id="11" name="Picture 10"/>
          <p:cNvPicPr>
            <a:picLocks noChangeAspect="1"/>
          </p:cNvPicPr>
          <p:nvPr/>
        </p:nvPicPr>
        <p:blipFill>
          <a:blip r:embed="rId4"/>
          <a:stretch>
            <a:fillRect/>
          </a:stretch>
        </p:blipFill>
        <p:spPr>
          <a:xfrm>
            <a:off x="12420600" y="2845242"/>
            <a:ext cx="5532663" cy="3762212"/>
          </a:xfrm>
          <a:prstGeom prst="rect">
            <a:avLst/>
          </a:prstGeom>
        </p:spPr>
      </p:pic>
      <p:sp>
        <p:nvSpPr>
          <p:cNvPr id="12" name="TextBox 24"/>
          <p:cNvSpPr txBox="1"/>
          <p:nvPr/>
        </p:nvSpPr>
        <p:spPr>
          <a:xfrm>
            <a:off x="1753370" y="7816853"/>
            <a:ext cx="15391630" cy="1362361"/>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Ví dụ: Một công ty có hơn 100 văn phòng trên toàn thế giới. Nhà nghiên cứu chọn ngẫu nhiên 3 văn phòng và khảo sát toàn bộ nhân viên trong các văn phòng này làm mẫu.</a:t>
            </a:r>
          </a:p>
        </p:txBody>
      </p:sp>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p:nvPr/>
        </p:nvSpPr>
        <p:spPr>
          <a:xfrm>
            <a:off x="1028700" y="904875"/>
            <a:ext cx="14993620" cy="730969"/>
          </a:xfrm>
          <a:prstGeom prst="rect">
            <a:avLst/>
          </a:prstGeom>
        </p:spPr>
        <p:txBody>
          <a:bodyPr wrap="square" lIns="0" tIns="0" rIns="0" bIns="0" rtlCol="0" anchor="t">
            <a:spAutoFit/>
          </a:bodyPr>
          <a:lstStyle/>
          <a:p>
            <a:pPr>
              <a:lnSpc>
                <a:spcPts val="5715"/>
              </a:lnSpc>
            </a:pPr>
            <a:r>
              <a:rPr lang="en-US"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2.5.</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4. LẤY MẪU (</a:t>
            </a:r>
            <a:r>
              <a:rPr lang="vi-VN" altLang="en-US"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SAMPLING</a:t>
            </a:r>
            <a:r>
              <a:rPr lang="vi-VN" sz="48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a:t>
            </a:r>
            <a:r>
              <a:rPr lang="vi-VN" alt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	 	</a:t>
            </a:r>
          </a:p>
        </p:txBody>
      </p:sp>
      <p:grpSp>
        <p:nvGrpSpPr>
          <p:cNvPr id="3" name="Group 2"/>
          <p:cNvGrpSpPr/>
          <p:nvPr/>
        </p:nvGrpSpPr>
        <p:grpSpPr>
          <a:xfrm>
            <a:off x="868180" y="2773722"/>
            <a:ext cx="5803265" cy="665480"/>
            <a:chOff x="1592" y="3333"/>
            <a:chExt cx="9139" cy="1048"/>
          </a:xfrm>
        </p:grpSpPr>
        <p:grpSp>
          <p:nvGrpSpPr>
            <p:cNvPr id="4" name="Group 3"/>
            <p:cNvGrpSpPr/>
            <p:nvPr/>
          </p:nvGrpSpPr>
          <p:grpSpPr>
            <a:xfrm>
              <a:off x="2986" y="3333"/>
              <a:ext cx="7745" cy="1048"/>
              <a:chOff x="0" y="0"/>
              <a:chExt cx="1295215" cy="175329"/>
            </a:xfrm>
          </p:grpSpPr>
          <p:sp>
            <p:nvSpPr>
              <p:cNvPr id="7" name="Freeform 9"/>
              <p:cNvSpPr/>
              <p:nvPr/>
            </p:nvSpPr>
            <p:spPr>
              <a:xfrm>
                <a:off x="0" y="0"/>
                <a:ext cx="1295215"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sp>
          <p:sp>
            <p:nvSpPr>
              <p:cNvPr id="8" name="TextBox 10"/>
              <p:cNvSpPr txBox="1"/>
              <p:nvPr/>
            </p:nvSpPr>
            <p:spPr>
              <a:xfrm>
                <a:off x="0" y="-47625"/>
                <a:ext cx="1295215" cy="222954"/>
              </a:xfrm>
              <a:prstGeom prst="rect">
                <a:avLst/>
              </a:prstGeom>
            </p:spPr>
            <p:txBody>
              <a:bodyPr lIns="50800" tIns="50800" rIns="50800" bIns="50800" rtlCol="0" anchor="ctr"/>
              <a:lstStyle/>
              <a:p>
                <a:pPr algn="ctr">
                  <a:lnSpc>
                    <a:spcPts val="2800"/>
                  </a:lnSpc>
                </a:pPr>
                <a:endParaRPr>
                  <a:latin typeface="Segoe UI" panose="020B0502040204020203" pitchFamily="34" charset="0"/>
                </a:endParaRPr>
              </a:p>
            </p:txBody>
          </p:sp>
        </p:grpSp>
        <p:sp>
          <p:nvSpPr>
            <p:cNvPr id="5" name="Freeform 11"/>
            <p:cNvSpPr/>
            <p:nvPr/>
          </p:nvSpPr>
          <p:spPr>
            <a:xfrm>
              <a:off x="1592" y="3333"/>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ltLang="en-US"/>
            </a:p>
          </p:txBody>
        </p:sp>
        <p:sp>
          <p:nvSpPr>
            <p:cNvPr id="6" name="TextBox 27"/>
            <p:cNvSpPr txBox="1"/>
            <p:nvPr/>
          </p:nvSpPr>
          <p:spPr>
            <a:xfrm>
              <a:off x="3600" y="3580"/>
              <a:ext cx="6594" cy="570"/>
            </a:xfrm>
            <a:prstGeom prst="rect">
              <a:avLst/>
            </a:prstGeom>
          </p:spPr>
          <p:txBody>
            <a:bodyPr wrap="square" lIns="0" tIns="0" rIns="0" bIns="0" rtlCol="0" anchor="t">
              <a:spAutoFit/>
            </a:bodyPr>
            <a:lstStyle/>
            <a:p>
              <a:pPr algn="ctr">
                <a:lnSpc>
                  <a:spcPts val="3080"/>
                </a:lnSpc>
              </a:pPr>
              <a:r>
                <a:rPr lang="vi-VN" altLang="en-US" sz="2200" b="1">
                  <a:solidFill>
                    <a:srgbClr val="FFFFFF"/>
                  </a:solidFill>
                  <a:latin typeface="Segoe UI" panose="020B0502040204020203" pitchFamily="34" charset="0"/>
                  <a:ea typeface="Segoe Print" panose="02000600000000000000" charset="0"/>
                  <a:cs typeface="Segoe Print" panose="02000600000000000000" charset="0"/>
                  <a:sym typeface="Segoe Print" panose="02000600000000000000" charset="0"/>
                </a:rPr>
                <a:t>PHƯƠNG PHÁP LẤY MẪU</a:t>
              </a:r>
            </a:p>
          </p:txBody>
        </p:sp>
      </p:grpSp>
      <p:sp>
        <p:nvSpPr>
          <p:cNvPr id="9" name="TextBox 24"/>
          <p:cNvSpPr txBox="1"/>
          <p:nvPr/>
        </p:nvSpPr>
        <p:spPr>
          <a:xfrm>
            <a:off x="1719642" y="4183019"/>
            <a:ext cx="9592309" cy="646331"/>
          </a:xfrm>
          <a:prstGeom prst="rect">
            <a:avLst/>
          </a:prstGeom>
        </p:spPr>
        <p:txBody>
          <a:bodyPr wrap="square" lIns="0" tIns="0" rIns="0" bIns="0" rtlCol="0" anchor="t">
            <a:spAutoFit/>
          </a:bodyPr>
          <a:lstStyle/>
          <a:p>
            <a:pPr marL="342900" indent="-342900" algn="just">
              <a:lnSpc>
                <a:spcPct val="200000"/>
              </a:lnSpc>
              <a:buFont typeface="Wingdings" panose="05000000000000000000" pitchFamily="2" charset="2"/>
              <a:buChar char="v"/>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STRATIFIED SAMPLING (LẤY MẪU PHÂN TẦNG)</a:t>
            </a: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sp>
        <p:nvSpPr>
          <p:cNvPr id="17" name="TextBox 24"/>
          <p:cNvSpPr txBox="1"/>
          <p:nvPr/>
        </p:nvSpPr>
        <p:spPr>
          <a:xfrm>
            <a:off x="1719642" y="5277352"/>
            <a:ext cx="13748958" cy="3578352"/>
          </a:xfrm>
          <a:prstGeom prst="rect">
            <a:avLst/>
          </a:prstGeom>
        </p:spPr>
        <p:txBody>
          <a:bodyPr wrap="square" lIns="0" tIns="0" rIns="0" bIns="0" rtlCol="0" anchor="t">
            <a:spAutoFit/>
          </a:bodyPr>
          <a:lstStyle/>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Chia dữ liệu thành các tầng (</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strata</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dựa theo tiêu chí (tuổi, giới</a:t>
            </a:r>
          </a:p>
          <a:p>
            <a:pPr algn="just">
              <a:lnSpc>
                <a:spcPct val="200000"/>
              </a:lnSpc>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tính, thu nhập).</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Lấy mẫu từ mỗi tầng để đảm bảo tính đại diện, đặc biệt khi dữ</a:t>
            </a:r>
          </a:p>
          <a:p>
            <a:pPr algn="just">
              <a:lnSpc>
                <a:spcPct val="200000"/>
              </a:lnSpc>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liệu mất cân bằng.</a:t>
            </a:r>
          </a:p>
          <a:p>
            <a:pPr marL="342900" indent="-342900" algn="just">
              <a:lnSpc>
                <a:spcPct val="200000"/>
              </a:lnSpc>
              <a:buFont typeface="Arial" panose="020B0604020202020204" pitchFamily="34" charset="0"/>
              <a:buChar char="•"/>
            </a:pP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Ví dụ: chia khách hàng theo nhóm tuổi (18–25, 26–40, 41–60, &gt;60) và lấy mẫu từ từng nhóm.</a:t>
            </a:r>
          </a:p>
        </p:txBody>
      </p:sp>
      <p:pic>
        <p:nvPicPr>
          <p:cNvPr id="18" name="Picture 17"/>
          <p:cNvPicPr>
            <a:picLocks noChangeAspect="1"/>
          </p:cNvPicPr>
          <p:nvPr/>
        </p:nvPicPr>
        <p:blipFill>
          <a:blip r:embed="rId4"/>
          <a:stretch>
            <a:fillRect/>
          </a:stretch>
        </p:blipFill>
        <p:spPr>
          <a:xfrm>
            <a:off x="12377507" y="3690365"/>
            <a:ext cx="5669828" cy="3662935"/>
          </a:xfrm>
          <a:prstGeom prst="rect">
            <a:avLst/>
          </a:prstGeom>
        </p:spPr>
      </p:pic>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9"/>
          <p:cNvSpPr txBox="1"/>
          <p:nvPr/>
        </p:nvSpPr>
        <p:spPr>
          <a:xfrm>
            <a:off x="4705350" y="902608"/>
            <a:ext cx="8877300" cy="678904"/>
          </a:xfrm>
          <a:prstGeom prst="rect">
            <a:avLst/>
          </a:prstGeom>
        </p:spPr>
        <p:txBody>
          <a:bodyPr wrap="square" lIns="0" tIns="0" rIns="0" bIns="0" rtlCol="0" anchor="t">
            <a:spAutoFit/>
          </a:bodyPr>
          <a:lstStyle/>
          <a:p>
            <a:pPr algn="ct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KẾT LUẬN</a:t>
            </a:r>
          </a:p>
        </p:txBody>
      </p:sp>
      <p:sp>
        <p:nvSpPr>
          <p:cNvPr id="3" name="TextBox 24">
            <a:extLst>
              <a:ext uri="{FF2B5EF4-FFF2-40B4-BE49-F238E27FC236}">
                <a16:creationId xmlns:a16="http://schemas.microsoft.com/office/drawing/2014/main" id="{160ABDE3-7D6D-2962-BF4F-553E92700483}"/>
              </a:ext>
            </a:extLst>
          </p:cNvPr>
          <p:cNvSpPr txBox="1"/>
          <p:nvPr/>
        </p:nvSpPr>
        <p:spPr>
          <a:xfrm>
            <a:off x="1694180" y="2171700"/>
            <a:ext cx="14993620" cy="5055679"/>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Biến đổi dữ liệu nhằm cải thiện hiệu quả và độ chính xác trong khai phá dữ liệu, gồm các kỹ thuật chính:</a:t>
            </a:r>
          </a:p>
          <a:p>
            <a:pPr marL="1371600" lvl="2" indent="-457200" algn="just">
              <a:lnSpc>
                <a:spcPct val="200000"/>
              </a:lnSpc>
              <a:buFont typeface="+mj-lt"/>
              <a:buAutoNum type="arabicPeriod"/>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Chuẩn hóa dữ liệu: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Đưa dữ liệu về cùng thang đo nhằm loại bỏ ảnh hưởng của đơn vị đo lường, đặc biệt quan trọng với thuật toán dựa trên khoảng cách và mạng nơ-</a:t>
            </a:r>
            <a:r>
              <a:rPr lang="vi-VN"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ron</a:t>
            </a:r>
            <a:endPar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a:p>
            <a:pPr marL="1371600" lvl="2" indent="-457200" algn="just">
              <a:lnSpc>
                <a:spcPct val="200000"/>
              </a:lnSpc>
              <a:buFont typeface="+mj-lt"/>
              <a:buAutoNum type="arabicPeriod"/>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Phân rã dữ liệu: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Thay thế giá trị số bằng khoảng hoặc khái niệm để đơn giản hóa dữ liệu và hỗ trợ xây dựng cấu trúc phân cấp</a:t>
            </a:r>
          </a:p>
          <a:p>
            <a:pPr marL="1371600" lvl="2" indent="-457200" algn="just">
              <a:lnSpc>
                <a:spcPct val="200000"/>
              </a:lnSpc>
              <a:buFont typeface="+mj-lt"/>
              <a:buAutoNum type="arabicPeriod"/>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Nén dữ liệu: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Giảm kích thước nhưng vẫn giữ nguyên hoặc gần đúng đặc trưng</a:t>
            </a:r>
          </a:p>
          <a:p>
            <a:pPr marL="1371600" lvl="2" indent="-457200" algn="just">
              <a:lnSpc>
                <a:spcPct val="200000"/>
              </a:lnSpc>
              <a:buFont typeface="+mj-lt"/>
              <a:buAutoNum type="arabicPeriod"/>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Lấy mẫu: </a:t>
            </a:r>
            <a:r>
              <a:rPr lang="vi-VN"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Chọn tập con đại diện để xử lý nhanh hơn, tiết kiệm tài nguyên và thời gian</a:t>
            </a:r>
          </a:p>
        </p:txBody>
      </p:sp>
      <p:sp>
        <p:nvSpPr>
          <p:cNvPr id="4" name="Freeform 11">
            <a:extLst>
              <a:ext uri="{FF2B5EF4-FFF2-40B4-BE49-F238E27FC236}">
                <a16:creationId xmlns:a16="http://schemas.microsoft.com/office/drawing/2014/main" id="{4578B4BF-B48B-21C2-D11A-300EF0489205}"/>
              </a:ext>
            </a:extLst>
          </p:cNvPr>
          <p:cNvSpPr/>
          <p:nvPr/>
        </p:nvSpPr>
        <p:spPr>
          <a:xfrm flipH="1">
            <a:off x="656590" y="7810500"/>
            <a:ext cx="779780" cy="765175"/>
          </a:xfrm>
          <a:custGeom>
            <a:avLst/>
            <a:gdLst/>
            <a:ahLst/>
            <a:cxnLst/>
            <a:rect l="l" t="t" r="r" b="b"/>
            <a:pathLst>
              <a:path w="2449044" h="2161281">
                <a:moveTo>
                  <a:pt x="2449044" y="0"/>
                </a:moveTo>
                <a:lnTo>
                  <a:pt x="0" y="0"/>
                </a:lnTo>
                <a:lnTo>
                  <a:pt x="0" y="2161281"/>
                </a:lnTo>
                <a:lnTo>
                  <a:pt x="2449044" y="2161281"/>
                </a:lnTo>
                <a:lnTo>
                  <a:pt x="244904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24">
            <a:extLst>
              <a:ext uri="{FF2B5EF4-FFF2-40B4-BE49-F238E27FC236}">
                <a16:creationId xmlns:a16="http://schemas.microsoft.com/office/drawing/2014/main" id="{ED38CECD-B7CE-F125-8DD0-C96ED1F13A34}"/>
              </a:ext>
            </a:extLst>
          </p:cNvPr>
          <p:cNvSpPr txBox="1"/>
          <p:nvPr/>
        </p:nvSpPr>
        <p:spPr>
          <a:xfrm>
            <a:off x="1694180" y="7734300"/>
            <a:ext cx="14993620" cy="1362361"/>
          </a:xfrm>
          <a:prstGeom prst="rect">
            <a:avLst/>
          </a:prstGeom>
        </p:spPr>
        <p:txBody>
          <a:bodyPr wrap="square" lIns="0" tIns="0" rIns="0" bIns="0" rtlCol="0" anchor="t">
            <a:spAutoFit/>
          </a:bodyPr>
          <a:lstStyle/>
          <a:p>
            <a:pPr algn="just">
              <a:lnSpc>
                <a:spcPct val="200000"/>
              </a:lnSpc>
            </a:pPr>
            <a:r>
              <a:rPr lang="vi-VN"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Các kỹ thuật này giúp giảm khối lượng, độ phức tạp dữ liệu, đồng thời nâng cao hiệu suất thuật toán. Việc chọn kỹ thuật nào tùy thuộc mục tiêu, tính chất dữ liệu và yêu cầu về độ chính xác.</a:t>
            </a:r>
          </a:p>
        </p:txBody>
      </p:sp>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a:extLst>
              <a:ext uri="{FF2B5EF4-FFF2-40B4-BE49-F238E27FC236}">
                <a16:creationId xmlns:a16="http://schemas.microsoft.com/office/drawing/2014/main" id="{9879F365-5BB4-EC6A-74B3-8E471F054772}"/>
              </a:ext>
            </a:extLst>
          </p:cNvPr>
          <p:cNvSpPr txBox="1"/>
          <p:nvPr/>
        </p:nvSpPr>
        <p:spPr>
          <a:xfrm>
            <a:off x="4705350" y="902608"/>
            <a:ext cx="8877300" cy="678904"/>
          </a:xfrm>
          <a:prstGeom prst="rect">
            <a:avLst/>
          </a:prstGeom>
        </p:spPr>
        <p:txBody>
          <a:bodyPr wrap="square" lIns="0" tIns="0" rIns="0" bIns="0" rtlCol="0" anchor="t">
            <a:spAutoFit/>
          </a:bodyPr>
          <a:lstStyle/>
          <a:p>
            <a:pPr algn="ct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PHẦN BÀI TẬP</a:t>
            </a:r>
          </a:p>
        </p:txBody>
      </p:sp>
      <p:sp>
        <p:nvSpPr>
          <p:cNvPr id="4" name="TextBox 24">
            <a:extLst>
              <a:ext uri="{FF2B5EF4-FFF2-40B4-BE49-F238E27FC236}">
                <a16:creationId xmlns:a16="http://schemas.microsoft.com/office/drawing/2014/main" id="{6A59BE12-254A-C578-ED9F-73FCF623D372}"/>
              </a:ext>
            </a:extLst>
          </p:cNvPr>
          <p:cNvSpPr txBox="1"/>
          <p:nvPr/>
        </p:nvSpPr>
        <p:spPr>
          <a:xfrm>
            <a:off x="1694180" y="2171700"/>
            <a:ext cx="14993620" cy="7271671"/>
          </a:xfrm>
          <a:prstGeom prst="rect">
            <a:avLst/>
          </a:prstGeom>
        </p:spPr>
        <p:txBody>
          <a:bodyPr wrap="square" lIns="0" tIns="0" rIns="0" bIns="0" rtlCol="0" anchor="t">
            <a:spAutoFit/>
          </a:bodyPr>
          <a:lstStyle/>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2.16. What are the value ranges of the following normalization methods? </a:t>
            </a:r>
          </a:p>
          <a:p>
            <a:pPr marL="457200" indent="-457200" algn="just">
              <a:lnSpc>
                <a:spcPct val="200000"/>
              </a:lnSpc>
              <a:buAutoNum type="alphaLcPeriod"/>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min-max normalization </a:t>
            </a:r>
          </a:p>
          <a:p>
            <a:pPr marL="457200" indent="-457200" algn="just">
              <a:lnSpc>
                <a:spcPct val="200000"/>
              </a:lnSpc>
              <a:buAutoNum type="alphaLcPeriod"/>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z-score normalization </a:t>
            </a:r>
          </a:p>
          <a:p>
            <a:pPr marL="457200" indent="-457200" algn="just">
              <a:lnSpc>
                <a:spcPct val="200000"/>
              </a:lnSpc>
              <a:buAutoNum type="alphaLcPeriod"/>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z-score normalization using the mean absolute deviation instead of standard deviation </a:t>
            </a:r>
          </a:p>
          <a:p>
            <a:pPr marL="457200" indent="-457200" algn="just">
              <a:lnSpc>
                <a:spcPct val="200000"/>
              </a:lnSpc>
              <a:buAutoNum type="alphaLcPeriod"/>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normalization by decimal scaling </a:t>
            </a:r>
          </a:p>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2.17. Use these methods to normalize the following group of data: 200,300,400,600,1000 </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 min-max normalization by setting </a:t>
            </a:r>
            <a:r>
              <a:rPr lang="en-US"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new_min</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=0 and </a:t>
            </a:r>
            <a:r>
              <a:rPr lang="en-US"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new_max</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=1 </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b. z-score normalization </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 z-score normalization using the mean absolute deviation instead of standard deviation </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d. normalization by decimal scaling </a:t>
            </a:r>
          </a:p>
        </p:txBody>
      </p:sp>
    </p:spTree>
    <p:extLst>
      <p:ext uri="{BB962C8B-B14F-4D97-AF65-F5344CB8AC3E}">
        <p14:creationId xmlns:p14="http://schemas.microsoft.com/office/powerpoint/2010/main" val="3404967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3CD6-0035-A0E3-B05B-A915846D6F81}"/>
            </a:ext>
          </a:extLst>
        </p:cNvPr>
        <p:cNvGrpSpPr/>
        <p:nvPr/>
      </p:nvGrpSpPr>
      <p:grpSpPr>
        <a:xfrm>
          <a:off x="0" y="0"/>
          <a:ext cx="0" cy="0"/>
          <a:chOff x="0" y="0"/>
          <a:chExt cx="0" cy="0"/>
        </a:xfrm>
      </p:grpSpPr>
      <p:sp>
        <p:nvSpPr>
          <p:cNvPr id="2" name="TextBox 19">
            <a:extLst>
              <a:ext uri="{FF2B5EF4-FFF2-40B4-BE49-F238E27FC236}">
                <a16:creationId xmlns:a16="http://schemas.microsoft.com/office/drawing/2014/main" id="{F4EDDCF6-304F-340E-C21C-2D4D122DF578}"/>
              </a:ext>
            </a:extLst>
          </p:cNvPr>
          <p:cNvSpPr txBox="1"/>
          <p:nvPr/>
        </p:nvSpPr>
        <p:spPr>
          <a:xfrm>
            <a:off x="4705350" y="902608"/>
            <a:ext cx="8877300" cy="678904"/>
          </a:xfrm>
          <a:prstGeom prst="rect">
            <a:avLst/>
          </a:prstGeom>
        </p:spPr>
        <p:txBody>
          <a:bodyPr wrap="square" lIns="0" tIns="0" rIns="0" bIns="0" rtlCol="0" anchor="t">
            <a:spAutoFit/>
          </a:bodyPr>
          <a:lstStyle/>
          <a:p>
            <a:pPr algn="ct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PHẦN BÀI TẬP</a:t>
            </a:r>
          </a:p>
        </p:txBody>
      </p:sp>
      <p:sp>
        <p:nvSpPr>
          <p:cNvPr id="4" name="TextBox 24">
            <a:extLst>
              <a:ext uri="{FF2B5EF4-FFF2-40B4-BE49-F238E27FC236}">
                <a16:creationId xmlns:a16="http://schemas.microsoft.com/office/drawing/2014/main" id="{C5BFA952-19B1-32C9-18BF-ADD37C37602C}"/>
              </a:ext>
            </a:extLst>
          </p:cNvPr>
          <p:cNvSpPr txBox="1"/>
          <p:nvPr/>
        </p:nvSpPr>
        <p:spPr>
          <a:xfrm>
            <a:off x="1676691" y="1807337"/>
            <a:ext cx="15450820" cy="4317016"/>
          </a:xfrm>
          <a:prstGeom prst="rect">
            <a:avLst/>
          </a:prstGeom>
        </p:spPr>
        <p:txBody>
          <a:bodyPr wrap="square" lIns="0" tIns="0" rIns="0" bIns="0" rtlCol="0" anchor="t">
            <a:spAutoFit/>
          </a:bodyPr>
          <a:lstStyle/>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2.18. Given the following data (in the ascending order) for the attribute age: </a:t>
            </a:r>
          </a:p>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13, 15, 16, 16, 19, 20, 20, 21, 22, 22, 25, 25, 25, 25, 30, 33, 33, 35, 35, 35, 35, 36, 40, 45, 46, 52, 70.</a:t>
            </a:r>
          </a:p>
          <a:p>
            <a:pPr marL="457200" indent="-457200" algn="just">
              <a:lnSpc>
                <a:spcPct val="200000"/>
              </a:lnSpc>
              <a:buAutoNum type="alphaLcPeriod"/>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Use min-max normalization to transform the value 35 for age onto the range [0.0,1.0] </a:t>
            </a:r>
          </a:p>
          <a:p>
            <a:pPr marL="457200" indent="-457200" algn="just">
              <a:lnSpc>
                <a:spcPct val="200000"/>
              </a:lnSpc>
              <a:buAutoNum type="alphaLcPeriod"/>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Use z-score normalization to transform the value 35 for age, where the standard deviation of age is 12.70 years </a:t>
            </a:r>
          </a:p>
          <a:p>
            <a:pPr marL="457200" indent="-457200" algn="just">
              <a:lnSpc>
                <a:spcPct val="200000"/>
              </a:lnSpc>
              <a:buAutoNum type="alphaLcPeriod"/>
            </a:pPr>
            <a:r>
              <a:rPr lang="en-US"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Usenormalization</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by decimal scaling to transform the value 35 for age </a:t>
            </a:r>
          </a:p>
          <a:p>
            <a:pPr marL="457200" indent="-457200" algn="just">
              <a:lnSpc>
                <a:spcPct val="200000"/>
              </a:lnSpc>
              <a:buAutoNum type="alphaLcPeriod"/>
            </a:pPr>
            <a:r>
              <a:rPr lang="en-US"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Commentonwhich</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method you would prefer to use for the given data, giving reasons as to why </a:t>
            </a:r>
          </a:p>
        </p:txBody>
      </p:sp>
      <p:pic>
        <p:nvPicPr>
          <p:cNvPr id="5" name="Picture 4">
            <a:extLst>
              <a:ext uri="{FF2B5EF4-FFF2-40B4-BE49-F238E27FC236}">
                <a16:creationId xmlns:a16="http://schemas.microsoft.com/office/drawing/2014/main" id="{F0D98891-C3C4-D26A-1166-ED22AA460B82}"/>
              </a:ext>
            </a:extLst>
          </p:cNvPr>
          <p:cNvPicPr>
            <a:picLocks noChangeAspect="1"/>
          </p:cNvPicPr>
          <p:nvPr/>
        </p:nvPicPr>
        <p:blipFill>
          <a:blip r:embed="rId2"/>
          <a:stretch>
            <a:fillRect/>
          </a:stretch>
        </p:blipFill>
        <p:spPr>
          <a:xfrm>
            <a:off x="1932850" y="7857565"/>
            <a:ext cx="10182950" cy="2062167"/>
          </a:xfrm>
          <a:prstGeom prst="rect">
            <a:avLst/>
          </a:prstGeom>
        </p:spPr>
      </p:pic>
      <p:sp>
        <p:nvSpPr>
          <p:cNvPr id="6" name="TextBox 24">
            <a:extLst>
              <a:ext uri="{FF2B5EF4-FFF2-40B4-BE49-F238E27FC236}">
                <a16:creationId xmlns:a16="http://schemas.microsoft.com/office/drawing/2014/main" id="{564B42BD-7B11-1460-3E53-29CAA4A4DDB5}"/>
              </a:ext>
            </a:extLst>
          </p:cNvPr>
          <p:cNvSpPr txBox="1"/>
          <p:nvPr/>
        </p:nvSpPr>
        <p:spPr>
          <a:xfrm>
            <a:off x="1707921" y="6350178"/>
            <a:ext cx="15450820" cy="1362361"/>
          </a:xfrm>
          <a:prstGeom prst="rect">
            <a:avLst/>
          </a:prstGeom>
        </p:spPr>
        <p:txBody>
          <a:bodyPr wrap="square" lIns="0" tIns="0" rIns="0" bIns="0" rtlCol="0" anchor="t">
            <a:spAutoFit/>
          </a:bodyPr>
          <a:lstStyle/>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2.19. Using the data for age and body fat given in Exercise 2.7, answer the following: </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 Normalize the two attributes based on z-score normalization</a:t>
            </a:r>
          </a:p>
        </p:txBody>
      </p:sp>
    </p:spTree>
    <p:extLst>
      <p:ext uri="{BB962C8B-B14F-4D97-AF65-F5344CB8AC3E}">
        <p14:creationId xmlns:p14="http://schemas.microsoft.com/office/powerpoint/2010/main" val="2657701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3F6A3-A562-3FB7-6244-8B2553881528}"/>
            </a:ext>
          </a:extLst>
        </p:cNvPr>
        <p:cNvGrpSpPr/>
        <p:nvPr/>
      </p:nvGrpSpPr>
      <p:grpSpPr>
        <a:xfrm>
          <a:off x="0" y="0"/>
          <a:ext cx="0" cy="0"/>
          <a:chOff x="0" y="0"/>
          <a:chExt cx="0" cy="0"/>
        </a:xfrm>
      </p:grpSpPr>
      <p:sp>
        <p:nvSpPr>
          <p:cNvPr id="2" name="TextBox 19">
            <a:extLst>
              <a:ext uri="{FF2B5EF4-FFF2-40B4-BE49-F238E27FC236}">
                <a16:creationId xmlns:a16="http://schemas.microsoft.com/office/drawing/2014/main" id="{AFC78D79-7360-2DA2-A43F-1F8C1822C266}"/>
              </a:ext>
            </a:extLst>
          </p:cNvPr>
          <p:cNvSpPr txBox="1"/>
          <p:nvPr/>
        </p:nvSpPr>
        <p:spPr>
          <a:xfrm>
            <a:off x="4705350" y="902608"/>
            <a:ext cx="8877300" cy="678904"/>
          </a:xfrm>
          <a:prstGeom prst="rect">
            <a:avLst/>
          </a:prstGeom>
        </p:spPr>
        <p:txBody>
          <a:bodyPr wrap="square" lIns="0" tIns="0" rIns="0" bIns="0" rtlCol="0" anchor="t">
            <a:spAutoFit/>
          </a:bodyPr>
          <a:lstStyle/>
          <a:p>
            <a:pPr algn="ct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PHẦN BÀI TẬP</a:t>
            </a:r>
          </a:p>
        </p:txBody>
      </p:sp>
      <p:sp>
        <p:nvSpPr>
          <p:cNvPr id="4" name="TextBox 24">
            <a:extLst>
              <a:ext uri="{FF2B5EF4-FFF2-40B4-BE49-F238E27FC236}">
                <a16:creationId xmlns:a16="http://schemas.microsoft.com/office/drawing/2014/main" id="{125444E0-10EE-4D40-6A1F-40BAF2B2A6FA}"/>
              </a:ext>
            </a:extLst>
          </p:cNvPr>
          <p:cNvSpPr txBox="1"/>
          <p:nvPr/>
        </p:nvSpPr>
        <p:spPr>
          <a:xfrm>
            <a:off x="1828800" y="1563399"/>
            <a:ext cx="14993620" cy="9487662"/>
          </a:xfrm>
          <a:prstGeom prst="rect">
            <a:avLst/>
          </a:prstGeom>
        </p:spPr>
        <p:txBody>
          <a:bodyPr wrap="square" lIns="0" tIns="0" rIns="0" bIns="0" rtlCol="0" anchor="t">
            <a:spAutoFit/>
          </a:bodyPr>
          <a:lstStyle/>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2.14. Given the following data (in the ascending order) for the attribute age: </a:t>
            </a:r>
          </a:p>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13, 15, 16, 16, 19, 20, 20, 21, 22, 22, 25, 25, 25, 25, 30, 33, 33, 35, 35, 35, 35, 36, 40, 45, 46, 52, 70.</a:t>
            </a:r>
          </a:p>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 Use smoothing by bin means to smooth these data, using equal-frequency bins of size 3.</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Illustrate your steps. Comment on the effect of this technique for the given data.</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b. </a:t>
            </a:r>
            <a:r>
              <a:rPr lang="en-US"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Howmight</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you determine outliers in the data?</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c. </a:t>
            </a:r>
            <a:r>
              <a:rPr lang="en-US"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Whatother</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methods are there for data smoothing?</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2.20. Suppose a group of 12 sales price records has been sorted as follows:</a:t>
            </a:r>
          </a:p>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5,10,11,13,15,35,50,55,72,92,204,215.</a:t>
            </a:r>
          </a:p>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Partition them into three bins by each of the following methods:</a:t>
            </a:r>
          </a:p>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a. Equal-frequency (equal-depth) partitioning</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b. Equal-width partitioning</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c. Clustering</a:t>
            </a:r>
          </a:p>
          <a:p>
            <a:pPr algn="just">
              <a:lnSpc>
                <a:spcPct val="200000"/>
              </a:lnSpc>
            </a:pPr>
            <a:endPar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endParaRPr>
          </a:p>
        </p:txBody>
      </p:sp>
    </p:spTree>
    <p:extLst>
      <p:ext uri="{BB962C8B-B14F-4D97-AF65-F5344CB8AC3E}">
        <p14:creationId xmlns:p14="http://schemas.microsoft.com/office/powerpoint/2010/main" val="349981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21AB2-128C-B7B8-E049-084A9621DAE6}"/>
            </a:ext>
          </a:extLst>
        </p:cNvPr>
        <p:cNvGrpSpPr/>
        <p:nvPr/>
      </p:nvGrpSpPr>
      <p:grpSpPr>
        <a:xfrm>
          <a:off x="0" y="0"/>
          <a:ext cx="0" cy="0"/>
          <a:chOff x="0" y="0"/>
          <a:chExt cx="0" cy="0"/>
        </a:xfrm>
      </p:grpSpPr>
      <p:sp>
        <p:nvSpPr>
          <p:cNvPr id="2" name="TextBox 19">
            <a:extLst>
              <a:ext uri="{FF2B5EF4-FFF2-40B4-BE49-F238E27FC236}">
                <a16:creationId xmlns:a16="http://schemas.microsoft.com/office/drawing/2014/main" id="{441E828D-62DB-1119-2CDD-94D75FC87118}"/>
              </a:ext>
            </a:extLst>
          </p:cNvPr>
          <p:cNvSpPr txBox="1"/>
          <p:nvPr/>
        </p:nvSpPr>
        <p:spPr>
          <a:xfrm>
            <a:off x="4705350" y="902608"/>
            <a:ext cx="8877300" cy="678904"/>
          </a:xfrm>
          <a:prstGeom prst="rect">
            <a:avLst/>
          </a:prstGeom>
        </p:spPr>
        <p:txBody>
          <a:bodyPr wrap="square" lIns="0" tIns="0" rIns="0" bIns="0" rtlCol="0" anchor="t">
            <a:spAutoFit/>
          </a:bodyPr>
          <a:lstStyle/>
          <a:p>
            <a:pPr algn="ctr">
              <a:lnSpc>
                <a:spcPts val="5715"/>
              </a:lnSpc>
            </a:pPr>
            <a:r>
              <a:rPr lang="en-US" sz="4500" b="1">
                <a:solidFill>
                  <a:srgbClr val="0E2F5F"/>
                </a:solidFill>
                <a:latin typeface="Segoe UI" panose="020B0502040204020203" pitchFamily="34" charset="0"/>
                <a:ea typeface="MS UI Gothic" panose="020B0600070205080204" charset="-128"/>
                <a:cs typeface="MS UI Gothic" panose="020B0600070205080204" charset="-128"/>
                <a:sym typeface="MS UI Gothic" panose="020B0600070205080204" charset="-128"/>
              </a:rPr>
              <a:t>PHẦN BÀI TẬP</a:t>
            </a:r>
          </a:p>
        </p:txBody>
      </p:sp>
      <p:sp>
        <p:nvSpPr>
          <p:cNvPr id="4" name="TextBox 24">
            <a:extLst>
              <a:ext uri="{FF2B5EF4-FFF2-40B4-BE49-F238E27FC236}">
                <a16:creationId xmlns:a16="http://schemas.microsoft.com/office/drawing/2014/main" id="{AB45C561-342B-6672-3940-293F5DAACC1E}"/>
              </a:ext>
            </a:extLst>
          </p:cNvPr>
          <p:cNvSpPr txBox="1"/>
          <p:nvPr/>
        </p:nvSpPr>
        <p:spPr>
          <a:xfrm>
            <a:off x="1752600" y="2042198"/>
            <a:ext cx="14993620" cy="3578352"/>
          </a:xfrm>
          <a:prstGeom prst="rect">
            <a:avLst/>
          </a:prstGeom>
        </p:spPr>
        <p:txBody>
          <a:bodyPr wrap="square" lIns="0" tIns="0" rIns="0" bIns="0" rtlCol="0" anchor="t">
            <a:spAutoFit/>
          </a:bodyPr>
          <a:lstStyle/>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2.22. Given the following data (in the ascending order) for the attribute age: </a:t>
            </a:r>
          </a:p>
          <a:p>
            <a:pPr algn="just">
              <a:lnSpc>
                <a:spcPct val="200000"/>
              </a:lnSpc>
            </a:pPr>
            <a:r>
              <a:rPr lang="en-US" altLang="en-US" sz="2400" b="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13, 15, 16, 16, 19, 20, 20, 21, 22, 22, 25, 25, 25, 25, 30, 33, 33, 35, 35, 35, 35, 36, 40, 45, 46, 52, 70.</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a. Plot an equal-width histogram of width 10</a:t>
            </a:r>
          </a:p>
          <a:p>
            <a:pPr algn="just">
              <a:lnSpc>
                <a:spcPct val="200000"/>
              </a:lnSpc>
            </a:pP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b. </a:t>
            </a:r>
            <a:r>
              <a:rPr lang="en-US" altLang="en-US" sz="2400" err="1">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Sketchexamples</a:t>
            </a:r>
            <a:r>
              <a:rPr lang="en-US" altLang="en-US" sz="2400">
                <a:solidFill>
                  <a:srgbClr val="0E2F5F"/>
                </a:solidFill>
                <a:latin typeface="Segoe UI" panose="020B0502040204020203" pitchFamily="34" charset="0"/>
                <a:ea typeface="Segoe Print" panose="02000600000000000000" charset="0"/>
                <a:cs typeface="Segoe Print" panose="02000600000000000000" charset="0"/>
                <a:sym typeface="Segoe Print" panose="02000600000000000000" charset="0"/>
              </a:rPr>
              <a:t> of each of the following sampling techniques: SRSWOR, SRSWR, cluster sampling, and stratified sampling, using samples of size 5 and the strata “youth,” “middle aged,” and “senior”</a:t>
            </a:r>
          </a:p>
        </p:txBody>
      </p:sp>
      <p:pic>
        <p:nvPicPr>
          <p:cNvPr id="3" name="Picture 2">
            <a:extLst>
              <a:ext uri="{FF2B5EF4-FFF2-40B4-BE49-F238E27FC236}">
                <a16:creationId xmlns:a16="http://schemas.microsoft.com/office/drawing/2014/main" id="{2F1C546F-5A13-72CE-3596-9665DF9A227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05400" y="6081236"/>
            <a:ext cx="7696200" cy="4229100"/>
          </a:xfrm>
          <a:prstGeom prst="rect">
            <a:avLst/>
          </a:prstGeom>
          <a:noFill/>
        </p:spPr>
      </p:pic>
    </p:spTree>
    <p:extLst>
      <p:ext uri="{BB962C8B-B14F-4D97-AF65-F5344CB8AC3E}">
        <p14:creationId xmlns:p14="http://schemas.microsoft.com/office/powerpoint/2010/main" val="35023833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34000" y="3176905"/>
            <a:ext cx="3768725" cy="1885131"/>
          </a:xfrm>
          <a:prstGeom prst="rect">
            <a:avLst/>
          </a:prstGeom>
        </p:spPr>
        <p:txBody>
          <a:bodyPr wrap="square" lIns="0" tIns="0" rIns="0" bIns="0" rtlCol="0" anchor="t">
            <a:spAutoFit/>
          </a:bodyPr>
          <a:lstStyle/>
          <a:p>
            <a:pPr algn="ctr">
              <a:lnSpc>
                <a:spcPts val="14660"/>
              </a:lnSpc>
            </a:pPr>
            <a:r>
              <a:rPr lang="vi-VN" altLang="en-US" sz="1685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CẢM</a:t>
            </a:r>
            <a:endParaRPr lang="en-US" sz="1685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grpSp>
        <p:nvGrpSpPr>
          <p:cNvPr id="3" name="Group 2"/>
          <p:cNvGrpSpPr/>
          <p:nvPr/>
        </p:nvGrpSpPr>
        <p:grpSpPr>
          <a:xfrm>
            <a:off x="3424555" y="-1072515"/>
            <a:ext cx="11438890" cy="3597275"/>
            <a:chOff x="5393" y="-1689"/>
            <a:chExt cx="18014" cy="5665"/>
          </a:xfrm>
        </p:grpSpPr>
        <p:grpSp>
          <p:nvGrpSpPr>
            <p:cNvPr id="8" name="Group 8"/>
            <p:cNvGrpSpPr/>
            <p:nvPr/>
          </p:nvGrpSpPr>
          <p:grpSpPr>
            <a:xfrm>
              <a:off x="5393" y="-1689"/>
              <a:ext cx="18014" cy="4472"/>
              <a:chOff x="0" y="0"/>
              <a:chExt cx="3012684" cy="747849"/>
            </a:xfrm>
          </p:grpSpPr>
          <p:sp>
            <p:nvSpPr>
              <p:cNvPr id="9" name="Freeform 9"/>
              <p:cNvSpPr/>
              <p:nvPr/>
            </p:nvSpPr>
            <p:spPr>
              <a:xfrm>
                <a:off x="0" y="0"/>
                <a:ext cx="3012684" cy="747849"/>
              </a:xfrm>
              <a:custGeom>
                <a:avLst/>
                <a:gdLst/>
                <a:ahLst/>
                <a:cxnLst/>
                <a:rect l="l" t="t" r="r" b="b"/>
                <a:pathLst>
                  <a:path w="3012684" h="747849">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cap="rnd">
                <a:noFill/>
                <a:prstDash val="solid"/>
                <a:round/>
              </a:ln>
            </p:spPr>
          </p:sp>
          <p:sp>
            <p:nvSpPr>
              <p:cNvPr id="10" name="TextBox 10"/>
              <p:cNvSpPr txBox="1"/>
              <p:nvPr/>
            </p:nvSpPr>
            <p:spPr>
              <a:xfrm>
                <a:off x="0" y="-47625"/>
                <a:ext cx="3012684" cy="795474"/>
              </a:xfrm>
              <a:prstGeom prst="rect">
                <a:avLst/>
              </a:prstGeom>
            </p:spPr>
            <p:txBody>
              <a:bodyPr lIns="50800" tIns="50800" rIns="50800" bIns="50800" rtlCol="0" anchor="ctr"/>
              <a:lstStyle/>
              <a:p>
                <a:pPr marL="0" lvl="0" indent="0" algn="ctr">
                  <a:lnSpc>
                    <a:spcPts val="2800"/>
                  </a:lnSpc>
                  <a:spcBef>
                    <a:spcPct val="0"/>
                  </a:spcBef>
                </a:pPr>
                <a:endParaRPr/>
              </a:p>
            </p:txBody>
          </p:sp>
        </p:grpSp>
        <p:grpSp>
          <p:nvGrpSpPr>
            <p:cNvPr id="11" name="Group 11"/>
            <p:cNvGrpSpPr/>
            <p:nvPr/>
          </p:nvGrpSpPr>
          <p:grpSpPr>
            <a:xfrm>
              <a:off x="13221" y="1620"/>
              <a:ext cx="2357" cy="235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4" name="Freeform 14"/>
            <p:cNvSpPr/>
            <p:nvPr/>
          </p:nvSpPr>
          <p:spPr>
            <a:xfrm>
              <a:off x="13659" y="2280"/>
              <a:ext cx="1482" cy="1037"/>
            </a:xfrm>
            <a:custGeom>
              <a:avLst/>
              <a:gdLst/>
              <a:ahLst/>
              <a:cxnLst/>
              <a:rect l="l" t="t" r="r" b="b"/>
              <a:pathLst>
                <a:path w="940838" h="658587">
                  <a:moveTo>
                    <a:pt x="0" y="0"/>
                  </a:moveTo>
                  <a:lnTo>
                    <a:pt x="940838" y="0"/>
                  </a:lnTo>
                  <a:lnTo>
                    <a:pt x="940838" y="658587"/>
                  </a:lnTo>
                  <a:lnTo>
                    <a:pt x="0" y="6585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15" name="Freeform 15"/>
          <p:cNvSpPr/>
          <p:nvPr/>
        </p:nvSpPr>
        <p:spPr>
          <a:xfrm>
            <a:off x="3424608" y="4750679"/>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flipH="1">
            <a:off x="13344065" y="4750679"/>
            <a:ext cx="1519327" cy="469610"/>
          </a:xfrm>
          <a:custGeom>
            <a:avLst/>
            <a:gdLst/>
            <a:ahLst/>
            <a:cxnLst/>
            <a:rect l="l" t="t" r="r" b="b"/>
            <a:pathLst>
              <a:path w="1519327" h="469610">
                <a:moveTo>
                  <a:pt x="1519327" y="0"/>
                </a:moveTo>
                <a:lnTo>
                  <a:pt x="0" y="0"/>
                </a:lnTo>
                <a:lnTo>
                  <a:pt x="0" y="469610"/>
                </a:lnTo>
                <a:lnTo>
                  <a:pt x="1519327" y="469610"/>
                </a:lnTo>
                <a:lnTo>
                  <a:pt x="1519327"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7" name="Group 17"/>
          <p:cNvGrpSpPr/>
          <p:nvPr/>
        </p:nvGrpSpPr>
        <p:grpSpPr>
          <a:xfrm>
            <a:off x="0" y="8996715"/>
            <a:ext cx="18288000" cy="1290285"/>
            <a:chOff x="0" y="0"/>
            <a:chExt cx="4816593" cy="339828"/>
          </a:xfrm>
        </p:grpSpPr>
        <p:sp>
          <p:nvSpPr>
            <p:cNvPr id="18" name="Freeform 18"/>
            <p:cNvSpPr/>
            <p:nvPr/>
          </p:nvSpPr>
          <p:spPr>
            <a:xfrm>
              <a:off x="0" y="0"/>
              <a:ext cx="4816592" cy="339828"/>
            </a:xfrm>
            <a:custGeom>
              <a:avLst/>
              <a:gdLst/>
              <a:ahLst/>
              <a:cxnLst/>
              <a:rect l="l" t="t" r="r" b="b"/>
              <a:pathLst>
                <a:path w="4816592" h="339828">
                  <a:moveTo>
                    <a:pt x="0" y="0"/>
                  </a:moveTo>
                  <a:lnTo>
                    <a:pt x="4816592" y="0"/>
                  </a:lnTo>
                  <a:lnTo>
                    <a:pt x="4816592" y="339828"/>
                  </a:lnTo>
                  <a:lnTo>
                    <a:pt x="0" y="339828"/>
                  </a:lnTo>
                  <a:close/>
                </a:path>
              </a:pathLst>
            </a:custGeom>
            <a:solidFill>
              <a:srgbClr val="0E2F5F"/>
            </a:solidFill>
            <a:ln cap="sq">
              <a:noFill/>
              <a:prstDash val="solid"/>
              <a:miter/>
            </a:ln>
          </p:spPr>
        </p:sp>
        <p:sp>
          <p:nvSpPr>
            <p:cNvPr id="19" name="TextBox 19"/>
            <p:cNvSpPr txBox="1"/>
            <p:nvPr/>
          </p:nvSpPr>
          <p:spPr>
            <a:xfrm>
              <a:off x="0" y="-47625"/>
              <a:ext cx="4816593" cy="387453"/>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4" name="TextBox 2"/>
          <p:cNvSpPr txBox="1"/>
          <p:nvPr/>
        </p:nvSpPr>
        <p:spPr>
          <a:xfrm>
            <a:off x="8839200" y="3176905"/>
            <a:ext cx="3035935" cy="1879600"/>
          </a:xfrm>
          <a:prstGeom prst="rect">
            <a:avLst/>
          </a:prstGeom>
        </p:spPr>
        <p:txBody>
          <a:bodyPr wrap="square" lIns="0" tIns="0" rIns="0" bIns="0" rtlCol="0" anchor="t">
            <a:spAutoFit/>
          </a:bodyPr>
          <a:lstStyle/>
          <a:p>
            <a:pPr algn="ctr">
              <a:lnSpc>
                <a:spcPts val="14660"/>
              </a:lnSpc>
            </a:pPr>
            <a:r>
              <a:rPr lang="vi-VN" altLang="en-US" sz="1685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 ƠN</a:t>
            </a:r>
            <a:r>
              <a:rPr lang="en-US" sz="1685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a:t>
            </a:r>
          </a:p>
        </p:txBody>
      </p:sp>
    </p:spTree>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938.35}"/>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1142*457"/>
  <p:tag name="TABLE_ENDDRAG_RECT" val="171*301*1142*45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2,&quot;left&quot;:129.74590551181103,&quot;top&quot;:303,&quot;width&quot;:1183.541259842519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60811C320DB09146B949355C1F67BBAE" ma:contentTypeVersion="7" ma:contentTypeDescription="Tạo tài liệu mới." ma:contentTypeScope="" ma:versionID="0c5dc14839786ff6417da974696bdab2">
  <xsd:schema xmlns:xsd="http://www.w3.org/2001/XMLSchema" xmlns:xs="http://www.w3.org/2001/XMLSchema" xmlns:p="http://schemas.microsoft.com/office/2006/metadata/properties" xmlns:ns2="fd63efce-8fbd-4040-94f1-ea540616c8b8" targetNamespace="http://schemas.microsoft.com/office/2006/metadata/properties" ma:root="true" ma:fieldsID="0fd769ffa81e029959f19baa62fbcfbb" ns2:_="">
    <xsd:import namespace="fd63efce-8fbd-4040-94f1-ea540616c8b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63efce-8fbd-4040-94f1-ea540616c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A4B29C-510C-41F0-AD64-928432975746}"/>
</file>

<file path=customXml/itemProps2.xml><?xml version="1.0" encoding="utf-8"?>
<ds:datastoreItem xmlns:ds="http://schemas.openxmlformats.org/officeDocument/2006/customXml" ds:itemID="{BDC5DCE9-582E-44A6-A829-A343DCBF8D98}">
  <ds:schemaRefs>
    <ds:schemaRef ds:uri="http://schemas.microsoft.com/sharepoint/v3/contenttype/forms"/>
  </ds:schemaRefs>
</ds:datastoreItem>
</file>

<file path=customXml/itemProps3.xml><?xml version="1.0" encoding="utf-8"?>
<ds:datastoreItem xmlns:ds="http://schemas.openxmlformats.org/officeDocument/2006/customXml" ds:itemID="{859D0B79-B396-400C-A6C6-A1F4CE94EAC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31</Slides>
  <Notes>2</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revision>4</cp:revision>
  <dcterms:created xsi:type="dcterms:W3CDTF">2006-08-16T00:00:00Z</dcterms:created>
  <dcterms:modified xsi:type="dcterms:W3CDTF">2025-11-09T15:46:23Z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C178D2C886694603AA077639A4EACCCC_12</vt:lpwstr>
  </property>
  <property fmtid="{D5CDD505-2E9C-101B-9397-08002B2CF9AE}" pid="3" name="KSOProductBuildVer">
    <vt:lpwstr>2057-12.2.0.22556</vt:lpwstr>
  </property>
  <property fmtid="{D5CDD505-2E9C-101B-9397-08002B2CF9AE}" pid="4" name="ContentTypeId">
    <vt:lpwstr>0x01010060811C320DB09146B949355C1F67BBAE</vt:lpwstr>
  </property>
</Properties>
</file>